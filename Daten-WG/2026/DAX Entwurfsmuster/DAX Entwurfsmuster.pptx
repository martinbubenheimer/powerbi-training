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7" r:id="rId2"/>
    <p:sldId id="259" r:id="rId3"/>
    <p:sldId id="257" r:id="rId4"/>
    <p:sldId id="260" r:id="rId5"/>
    <p:sldId id="258" r:id="rId6"/>
    <p:sldId id="264" r:id="rId7"/>
    <p:sldId id="265" r:id="rId8"/>
    <p:sldId id="261" r:id="rId9"/>
    <p:sldId id="266" r:id="rId10"/>
    <p:sldId id="262" r:id="rId11"/>
    <p:sldId id="263" r:id="rId12"/>
    <p:sldId id="256" r:id="rId13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0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7B455E-48FD-45D0-9AED-8C96E791532B}" v="20" dt="2026-08-24T19:25:58.1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81419" autoAdjust="0"/>
  </p:normalViewPr>
  <p:slideViewPr>
    <p:cSldViewPr snapToGrid="0">
      <p:cViewPr varScale="1">
        <p:scale>
          <a:sx n="69" d="100"/>
          <a:sy n="69" d="100"/>
        </p:scale>
        <p:origin x="825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ubenheimer, Martin" userId="1b9f7de3-769f-4fd2-be65-b36ce3b90b64" providerId="ADAL" clId="{6EEBBC3F-664C-4280-B373-3D24CD3FFE5B}"/>
    <pc:docChg chg="undo custSel addSld delSld modSld">
      <pc:chgData name="Bubenheimer, Martin" userId="1b9f7de3-769f-4fd2-be65-b36ce3b90b64" providerId="ADAL" clId="{6EEBBC3F-664C-4280-B373-3D24CD3FFE5B}" dt="2026-08-24T19:26:46.416" v="1718" actId="20577"/>
      <pc:docMkLst>
        <pc:docMk/>
      </pc:docMkLst>
      <pc:sldChg chg="modNotesTx">
        <pc:chgData name="Bubenheimer, Martin" userId="1b9f7de3-769f-4fd2-be65-b36ce3b90b64" providerId="ADAL" clId="{6EEBBC3F-664C-4280-B373-3D24CD3FFE5B}" dt="2026-08-24T19:23:14.778" v="1557" actId="20577"/>
        <pc:sldMkLst>
          <pc:docMk/>
          <pc:sldMk cId="1785336170" sldId="256"/>
        </pc:sldMkLst>
      </pc:sldChg>
      <pc:sldChg chg="modNotesTx">
        <pc:chgData name="Bubenheimer, Martin" userId="1b9f7de3-769f-4fd2-be65-b36ce3b90b64" providerId="ADAL" clId="{6EEBBC3F-664C-4280-B373-3D24CD3FFE5B}" dt="2026-08-24T19:25:20.285" v="1652" actId="20577"/>
        <pc:sldMkLst>
          <pc:docMk/>
          <pc:sldMk cId="3448924939" sldId="258"/>
        </pc:sldMkLst>
      </pc:sldChg>
      <pc:sldChg chg="addSp delSp modSp mod modNotesTx">
        <pc:chgData name="Bubenheimer, Martin" userId="1b9f7de3-769f-4fd2-be65-b36ce3b90b64" providerId="ADAL" clId="{6EEBBC3F-664C-4280-B373-3D24CD3FFE5B}" dt="2026-08-24T19:10:50.912" v="1479" actId="1038"/>
        <pc:sldMkLst>
          <pc:docMk/>
          <pc:sldMk cId="552638005" sldId="261"/>
        </pc:sldMkLst>
        <pc:spChg chg="mod">
          <ac:chgData name="Bubenheimer, Martin" userId="1b9f7de3-769f-4fd2-be65-b36ce3b90b64" providerId="ADAL" clId="{6EEBBC3F-664C-4280-B373-3D24CD3FFE5B}" dt="2026-08-24T17:11:37.342" v="1" actId="20577"/>
          <ac:spMkLst>
            <pc:docMk/>
            <pc:sldMk cId="552638005" sldId="261"/>
            <ac:spMk id="2" creationId="{87C03093-AD83-81C2-9E48-C60BAE3E7303}"/>
          </ac:spMkLst>
        </pc:spChg>
        <pc:spChg chg="mod">
          <ac:chgData name="Bubenheimer, Martin" userId="1b9f7de3-769f-4fd2-be65-b36ce3b90b64" providerId="ADAL" clId="{6EEBBC3F-664C-4280-B373-3D24CD3FFE5B}" dt="2026-08-24T18:37:06.777" v="1047" actId="782"/>
          <ac:spMkLst>
            <pc:docMk/>
            <pc:sldMk cId="552638005" sldId="261"/>
            <ac:spMk id="3" creationId="{2F852A88-41CC-ABB0-6462-096152A53672}"/>
          </ac:spMkLst>
        </pc:spChg>
        <pc:spChg chg="add mod">
          <ac:chgData name="Bubenheimer, Martin" userId="1b9f7de3-769f-4fd2-be65-b36ce3b90b64" providerId="ADAL" clId="{6EEBBC3F-664C-4280-B373-3D24CD3FFE5B}" dt="2026-08-24T18:39:33.140" v="1087" actId="164"/>
          <ac:spMkLst>
            <pc:docMk/>
            <pc:sldMk cId="552638005" sldId="261"/>
            <ac:spMk id="4" creationId="{0DA75A38-9411-B6B3-E434-C68C93CBFA57}"/>
          </ac:spMkLst>
        </pc:spChg>
        <pc:spChg chg="add mod">
          <ac:chgData name="Bubenheimer, Martin" userId="1b9f7de3-769f-4fd2-be65-b36ce3b90b64" providerId="ADAL" clId="{6EEBBC3F-664C-4280-B373-3D24CD3FFE5B}" dt="2026-08-24T18:39:33.140" v="1087" actId="164"/>
          <ac:spMkLst>
            <pc:docMk/>
            <pc:sldMk cId="552638005" sldId="261"/>
            <ac:spMk id="9" creationId="{915E0138-81D5-26F9-BD0A-88EC32815449}"/>
          </ac:spMkLst>
        </pc:spChg>
        <pc:spChg chg="add del">
          <ac:chgData name="Bubenheimer, Martin" userId="1b9f7de3-769f-4fd2-be65-b36ce3b90b64" providerId="ADAL" clId="{6EEBBC3F-664C-4280-B373-3D24CD3FFE5B}" dt="2026-08-24T18:39:49.199" v="1092" actId="478"/>
          <ac:spMkLst>
            <pc:docMk/>
            <pc:sldMk cId="552638005" sldId="261"/>
            <ac:spMk id="15" creationId="{11513D59-ECFC-3B4C-A196-096E298C06D2}"/>
          </ac:spMkLst>
        </pc:spChg>
        <pc:spChg chg="mod">
          <ac:chgData name="Bubenheimer, Martin" userId="1b9f7de3-769f-4fd2-be65-b36ce3b90b64" providerId="ADAL" clId="{6EEBBC3F-664C-4280-B373-3D24CD3FFE5B}" dt="2026-08-24T18:39:34.269" v="1088"/>
          <ac:spMkLst>
            <pc:docMk/>
            <pc:sldMk cId="552638005" sldId="261"/>
            <ac:spMk id="18" creationId="{9CD3375C-3A98-F926-1D21-44271E2217E2}"/>
          </ac:spMkLst>
        </pc:spChg>
        <pc:spChg chg="mod">
          <ac:chgData name="Bubenheimer, Martin" userId="1b9f7de3-769f-4fd2-be65-b36ce3b90b64" providerId="ADAL" clId="{6EEBBC3F-664C-4280-B373-3D24CD3FFE5B}" dt="2026-08-24T18:39:34.269" v="1088"/>
          <ac:spMkLst>
            <pc:docMk/>
            <pc:sldMk cId="552638005" sldId="261"/>
            <ac:spMk id="19" creationId="{A3396DCE-3C1B-51CF-D2C8-F9CEF3F9682A}"/>
          </ac:spMkLst>
        </pc:spChg>
        <pc:spChg chg="add mod">
          <ac:chgData name="Bubenheimer, Martin" userId="1b9f7de3-769f-4fd2-be65-b36ce3b90b64" providerId="ADAL" clId="{6EEBBC3F-664C-4280-B373-3D24CD3FFE5B}" dt="2026-08-24T19:04:19.693" v="1369" actId="1076"/>
          <ac:spMkLst>
            <pc:docMk/>
            <pc:sldMk cId="552638005" sldId="261"/>
            <ac:spMk id="21" creationId="{B0E47276-3E21-4F2E-4229-7C13F31CF258}"/>
          </ac:spMkLst>
        </pc:spChg>
        <pc:spChg chg="add mod">
          <ac:chgData name="Bubenheimer, Martin" userId="1b9f7de3-769f-4fd2-be65-b36ce3b90b64" providerId="ADAL" clId="{6EEBBC3F-664C-4280-B373-3D24CD3FFE5B}" dt="2026-08-24T19:10:04.851" v="1477" actId="14100"/>
          <ac:spMkLst>
            <pc:docMk/>
            <pc:sldMk cId="552638005" sldId="261"/>
            <ac:spMk id="22" creationId="{018431B6-9111-ECCF-C8CF-1E1481961861}"/>
          </ac:spMkLst>
        </pc:spChg>
        <pc:spChg chg="add mod">
          <ac:chgData name="Bubenheimer, Martin" userId="1b9f7de3-769f-4fd2-be65-b36ce3b90b64" providerId="ADAL" clId="{6EEBBC3F-664C-4280-B373-3D24CD3FFE5B}" dt="2026-08-24T19:05:20.496" v="1384" actId="1036"/>
          <ac:spMkLst>
            <pc:docMk/>
            <pc:sldMk cId="552638005" sldId="261"/>
            <ac:spMk id="23" creationId="{12C32F63-85E7-0719-0A64-7BCFBE4D0D31}"/>
          </ac:spMkLst>
        </pc:spChg>
        <pc:spChg chg="add mod">
          <ac:chgData name="Bubenheimer, Martin" userId="1b9f7de3-769f-4fd2-be65-b36ce3b90b64" providerId="ADAL" clId="{6EEBBC3F-664C-4280-B373-3D24CD3FFE5B}" dt="2026-08-24T19:10:15.873" v="1478" actId="1037"/>
          <ac:spMkLst>
            <pc:docMk/>
            <pc:sldMk cId="552638005" sldId="261"/>
            <ac:spMk id="37" creationId="{5339ED7F-22DC-00D3-BA9E-BC7A0C160A97}"/>
          </ac:spMkLst>
        </pc:spChg>
        <pc:spChg chg="add mod">
          <ac:chgData name="Bubenheimer, Martin" userId="1b9f7de3-769f-4fd2-be65-b36ce3b90b64" providerId="ADAL" clId="{6EEBBC3F-664C-4280-B373-3D24CD3FFE5B}" dt="2026-08-24T19:09:26.267" v="1464" actId="1035"/>
          <ac:spMkLst>
            <pc:docMk/>
            <pc:sldMk cId="552638005" sldId="261"/>
            <ac:spMk id="38" creationId="{A507BC39-5355-9116-E61C-8390BF3C1C06}"/>
          </ac:spMkLst>
        </pc:spChg>
        <pc:spChg chg="add mod">
          <ac:chgData name="Bubenheimer, Martin" userId="1b9f7de3-769f-4fd2-be65-b36ce3b90b64" providerId="ADAL" clId="{6EEBBC3F-664C-4280-B373-3D24CD3FFE5B}" dt="2026-08-24T19:10:50.912" v="1479" actId="1038"/>
          <ac:spMkLst>
            <pc:docMk/>
            <pc:sldMk cId="552638005" sldId="261"/>
            <ac:spMk id="39" creationId="{1BF385D6-49A0-BCE6-4675-4649786B652E}"/>
          </ac:spMkLst>
        </pc:spChg>
        <pc:grpChg chg="add mod">
          <ac:chgData name="Bubenheimer, Martin" userId="1b9f7de3-769f-4fd2-be65-b36ce3b90b64" providerId="ADAL" clId="{6EEBBC3F-664C-4280-B373-3D24CD3FFE5B}" dt="2026-08-24T18:45:35.548" v="1308" actId="1037"/>
          <ac:grpSpMkLst>
            <pc:docMk/>
            <pc:sldMk cId="552638005" sldId="261"/>
            <ac:grpSpMk id="16" creationId="{8A35DC69-5C14-86BC-D4A2-D484F8D492D7}"/>
          </ac:grpSpMkLst>
        </pc:grpChg>
        <pc:grpChg chg="add mod">
          <ac:chgData name="Bubenheimer, Martin" userId="1b9f7de3-769f-4fd2-be65-b36ce3b90b64" providerId="ADAL" clId="{6EEBBC3F-664C-4280-B373-3D24CD3FFE5B}" dt="2026-08-24T19:04:58.690" v="1377" actId="1037"/>
          <ac:grpSpMkLst>
            <pc:docMk/>
            <pc:sldMk cId="552638005" sldId="261"/>
            <ac:grpSpMk id="17" creationId="{039F215F-0227-298A-C532-D208C07C8C01}"/>
          </ac:grpSpMkLst>
        </pc:grpChg>
        <pc:picChg chg="mod">
          <ac:chgData name="Bubenheimer, Martin" userId="1b9f7de3-769f-4fd2-be65-b36ce3b90b64" providerId="ADAL" clId="{6EEBBC3F-664C-4280-B373-3D24CD3FFE5B}" dt="2026-08-24T18:45:35.548" v="1308" actId="1037"/>
          <ac:picMkLst>
            <pc:docMk/>
            <pc:sldMk cId="552638005" sldId="261"/>
            <ac:picMk id="5" creationId="{D8EE4500-24BE-D836-7946-FAFE5D95A1A6}"/>
          </ac:picMkLst>
        </pc:picChg>
        <pc:cxnChg chg="add del mod">
          <ac:chgData name="Bubenheimer, Martin" userId="1b9f7de3-769f-4fd2-be65-b36ce3b90b64" providerId="ADAL" clId="{6EEBBC3F-664C-4280-B373-3D24CD3FFE5B}" dt="2026-08-24T18:37:18.539" v="1049" actId="478"/>
          <ac:cxnSpMkLst>
            <pc:docMk/>
            <pc:sldMk cId="552638005" sldId="261"/>
            <ac:cxnSpMk id="7" creationId="{DD9B877F-69FD-BA7E-680F-0F41FF9CD88B}"/>
          </ac:cxnSpMkLst>
        </pc:cxnChg>
        <pc:cxnChg chg="add mod">
          <ac:chgData name="Bubenheimer, Martin" userId="1b9f7de3-769f-4fd2-be65-b36ce3b90b64" providerId="ADAL" clId="{6EEBBC3F-664C-4280-B373-3D24CD3FFE5B}" dt="2026-08-24T18:39:33.140" v="1087" actId="164"/>
          <ac:cxnSpMkLst>
            <pc:docMk/>
            <pc:sldMk cId="552638005" sldId="261"/>
            <ac:cxnSpMk id="11" creationId="{017DDB2C-9AFE-43A9-E5F2-72DA355DE6B3}"/>
          </ac:cxnSpMkLst>
        </pc:cxnChg>
        <pc:cxnChg chg="mod">
          <ac:chgData name="Bubenheimer, Martin" userId="1b9f7de3-769f-4fd2-be65-b36ce3b90b64" providerId="ADAL" clId="{6EEBBC3F-664C-4280-B373-3D24CD3FFE5B}" dt="2026-08-24T18:39:34.269" v="1088"/>
          <ac:cxnSpMkLst>
            <pc:docMk/>
            <pc:sldMk cId="552638005" sldId="261"/>
            <ac:cxnSpMk id="20" creationId="{6DC44522-EDAB-A746-BEAB-DE4B9FD19416}"/>
          </ac:cxnSpMkLst>
        </pc:cxnChg>
        <pc:cxnChg chg="add del">
          <ac:chgData name="Bubenheimer, Martin" userId="1b9f7de3-769f-4fd2-be65-b36ce3b90b64" providerId="ADAL" clId="{6EEBBC3F-664C-4280-B373-3D24CD3FFE5B}" dt="2026-08-24T18:57:06.050" v="1341" actId="11529"/>
          <ac:cxnSpMkLst>
            <pc:docMk/>
            <pc:sldMk cId="552638005" sldId="261"/>
            <ac:cxnSpMk id="25" creationId="{6E1FB966-F0CB-8F89-06D6-1A6C4226FBF8}"/>
          </ac:cxnSpMkLst>
        </pc:cxnChg>
        <pc:cxnChg chg="add mod">
          <ac:chgData name="Bubenheimer, Martin" userId="1b9f7de3-769f-4fd2-be65-b36ce3b90b64" providerId="ADAL" clId="{6EEBBC3F-664C-4280-B373-3D24CD3FFE5B}" dt="2026-08-24T19:05:20.496" v="1384" actId="1036"/>
          <ac:cxnSpMkLst>
            <pc:docMk/>
            <pc:sldMk cId="552638005" sldId="261"/>
            <ac:cxnSpMk id="26" creationId="{57DDAC7C-2A68-620B-D33A-5FD1A38EC771}"/>
          </ac:cxnSpMkLst>
        </pc:cxnChg>
        <pc:cxnChg chg="add mod">
          <ac:chgData name="Bubenheimer, Martin" userId="1b9f7de3-769f-4fd2-be65-b36ce3b90b64" providerId="ADAL" clId="{6EEBBC3F-664C-4280-B373-3D24CD3FFE5B}" dt="2026-08-24T19:05:20.496" v="1384" actId="1036"/>
          <ac:cxnSpMkLst>
            <pc:docMk/>
            <pc:sldMk cId="552638005" sldId="261"/>
            <ac:cxnSpMk id="28" creationId="{C2FFC558-B191-DD78-931F-D89ECA3D1C63}"/>
          </ac:cxnSpMkLst>
        </pc:cxnChg>
        <pc:cxnChg chg="add mod">
          <ac:chgData name="Bubenheimer, Martin" userId="1b9f7de3-769f-4fd2-be65-b36ce3b90b64" providerId="ADAL" clId="{6EEBBC3F-664C-4280-B373-3D24CD3FFE5B}" dt="2026-08-24T19:10:15.873" v="1478" actId="1037"/>
          <ac:cxnSpMkLst>
            <pc:docMk/>
            <pc:sldMk cId="552638005" sldId="261"/>
            <ac:cxnSpMk id="35" creationId="{09903BAA-8DEA-860A-DF59-5F61F10C66BE}"/>
          </ac:cxnSpMkLst>
        </pc:cxnChg>
        <pc:cxnChg chg="add mod">
          <ac:chgData name="Bubenheimer, Martin" userId="1b9f7de3-769f-4fd2-be65-b36ce3b90b64" providerId="ADAL" clId="{6EEBBC3F-664C-4280-B373-3D24CD3FFE5B}" dt="2026-08-24T19:08:48.371" v="1434" actId="14100"/>
          <ac:cxnSpMkLst>
            <pc:docMk/>
            <pc:sldMk cId="552638005" sldId="261"/>
            <ac:cxnSpMk id="41" creationId="{B115B4A7-4CFD-4CE9-3AFC-9777E7557D29}"/>
          </ac:cxnSpMkLst>
        </pc:cxnChg>
        <pc:cxnChg chg="add mod">
          <ac:chgData name="Bubenheimer, Martin" userId="1b9f7de3-769f-4fd2-be65-b36ce3b90b64" providerId="ADAL" clId="{6EEBBC3F-664C-4280-B373-3D24CD3FFE5B}" dt="2026-08-24T19:08:36.734" v="1433" actId="14100"/>
          <ac:cxnSpMkLst>
            <pc:docMk/>
            <pc:sldMk cId="552638005" sldId="261"/>
            <ac:cxnSpMk id="42" creationId="{7A60B9B6-AA51-08E1-EC5D-135F5677B1AC}"/>
          </ac:cxnSpMkLst>
        </pc:cxnChg>
      </pc:sldChg>
      <pc:sldChg chg="modSp mod modNotesTx">
        <pc:chgData name="Bubenheimer, Martin" userId="1b9f7de3-769f-4fd2-be65-b36ce3b90b64" providerId="ADAL" clId="{6EEBBC3F-664C-4280-B373-3D24CD3FFE5B}" dt="2026-08-24T19:26:24.524" v="1676" actId="20577"/>
        <pc:sldMkLst>
          <pc:docMk/>
          <pc:sldMk cId="2170959814" sldId="264"/>
        </pc:sldMkLst>
        <pc:spChg chg="mod">
          <ac:chgData name="Bubenheimer, Martin" userId="1b9f7de3-769f-4fd2-be65-b36ce3b90b64" providerId="ADAL" clId="{6EEBBC3F-664C-4280-B373-3D24CD3FFE5B}" dt="2026-08-24T19:12:04.950" v="1481" actId="20577"/>
          <ac:spMkLst>
            <pc:docMk/>
            <pc:sldMk cId="2170959814" sldId="264"/>
            <ac:spMk id="2" creationId="{48E8FC7E-FC6C-12BB-F7A7-5CF6486DDD3D}"/>
          </ac:spMkLst>
        </pc:spChg>
      </pc:sldChg>
      <pc:sldChg chg="modSp new mod modNotesTx">
        <pc:chgData name="Bubenheimer, Martin" userId="1b9f7de3-769f-4fd2-be65-b36ce3b90b64" providerId="ADAL" clId="{6EEBBC3F-664C-4280-B373-3D24CD3FFE5B}" dt="2026-08-24T19:26:46.416" v="1718" actId="20577"/>
        <pc:sldMkLst>
          <pc:docMk/>
          <pc:sldMk cId="254071258" sldId="265"/>
        </pc:sldMkLst>
        <pc:spChg chg="mod">
          <ac:chgData name="Bubenheimer, Martin" userId="1b9f7de3-769f-4fd2-be65-b36ce3b90b64" providerId="ADAL" clId="{6EEBBC3F-664C-4280-B373-3D24CD3FFE5B}" dt="2026-08-24T17:11:54.802" v="46" actId="20577"/>
          <ac:spMkLst>
            <pc:docMk/>
            <pc:sldMk cId="254071258" sldId="265"/>
            <ac:spMk id="2" creationId="{A39A9036-8ED5-75F5-9948-77EB93D70DA0}"/>
          </ac:spMkLst>
        </pc:spChg>
        <pc:spChg chg="mod">
          <ac:chgData name="Bubenheimer, Martin" userId="1b9f7de3-769f-4fd2-be65-b36ce3b90b64" providerId="ADAL" clId="{6EEBBC3F-664C-4280-B373-3D24CD3FFE5B}" dt="2026-08-24T17:16:31.632" v="499" actId="20577"/>
          <ac:spMkLst>
            <pc:docMk/>
            <pc:sldMk cId="254071258" sldId="265"/>
            <ac:spMk id="3" creationId="{EF9C467D-7CCE-60F4-241B-E2C742433DE7}"/>
          </ac:spMkLst>
        </pc:spChg>
      </pc:sldChg>
      <pc:sldChg chg="modSp new mod">
        <pc:chgData name="Bubenheimer, Martin" userId="1b9f7de3-769f-4fd2-be65-b36ce3b90b64" providerId="ADAL" clId="{6EEBBC3F-664C-4280-B373-3D24CD3FFE5B}" dt="2026-08-24T17:24:22.648" v="990" actId="20577"/>
        <pc:sldMkLst>
          <pc:docMk/>
          <pc:sldMk cId="3135236913" sldId="266"/>
        </pc:sldMkLst>
        <pc:spChg chg="mod">
          <ac:chgData name="Bubenheimer, Martin" userId="1b9f7de3-769f-4fd2-be65-b36ce3b90b64" providerId="ADAL" clId="{6EEBBC3F-664C-4280-B373-3D24CD3FFE5B}" dt="2026-08-24T17:21:04.193" v="923" actId="20577"/>
          <ac:spMkLst>
            <pc:docMk/>
            <pc:sldMk cId="3135236913" sldId="266"/>
            <ac:spMk id="2" creationId="{36CA235A-5802-C6C9-E9AA-BB0F08F82214}"/>
          </ac:spMkLst>
        </pc:spChg>
        <pc:spChg chg="mod">
          <ac:chgData name="Bubenheimer, Martin" userId="1b9f7de3-769f-4fd2-be65-b36ce3b90b64" providerId="ADAL" clId="{6EEBBC3F-664C-4280-B373-3D24CD3FFE5B}" dt="2026-08-24T17:24:22.648" v="990" actId="20577"/>
          <ac:spMkLst>
            <pc:docMk/>
            <pc:sldMk cId="3135236913" sldId="266"/>
            <ac:spMk id="3" creationId="{F80511D7-3BD0-CBDA-4DD7-130056512804}"/>
          </ac:spMkLst>
        </pc:spChg>
      </pc:sldChg>
      <pc:sldChg chg="addSp modSp new mod">
        <pc:chgData name="Bubenheimer, Martin" userId="1b9f7de3-769f-4fd2-be65-b36ce3b90b64" providerId="ADAL" clId="{6EEBBC3F-664C-4280-B373-3D24CD3FFE5B}" dt="2026-08-24T19:22:42.529" v="1542" actId="1035"/>
        <pc:sldMkLst>
          <pc:docMk/>
          <pc:sldMk cId="2029415474" sldId="267"/>
        </pc:sldMkLst>
        <pc:spChg chg="mod">
          <ac:chgData name="Bubenheimer, Martin" userId="1b9f7de3-769f-4fd2-be65-b36ce3b90b64" providerId="ADAL" clId="{6EEBBC3F-664C-4280-B373-3D24CD3FFE5B}" dt="2026-08-24T19:22:28.514" v="1514"/>
          <ac:spMkLst>
            <pc:docMk/>
            <pc:sldMk cId="2029415474" sldId="267"/>
            <ac:spMk id="3" creationId="{EAD47EB7-0A3C-25AC-E966-6992D743ACDD}"/>
          </ac:spMkLst>
        </pc:spChg>
        <pc:picChg chg="add mod">
          <ac:chgData name="Bubenheimer, Martin" userId="1b9f7de3-769f-4fd2-be65-b36ce3b90b64" providerId="ADAL" clId="{6EEBBC3F-664C-4280-B373-3D24CD3FFE5B}" dt="2026-08-24T19:22:42.529" v="1542" actId="1035"/>
          <ac:picMkLst>
            <pc:docMk/>
            <pc:sldMk cId="2029415474" sldId="267"/>
            <ac:picMk id="5" creationId="{06644869-C884-921F-EE2E-95E35904F00F}"/>
          </ac:picMkLst>
        </pc:picChg>
      </pc:sldChg>
      <pc:sldChg chg="new del">
        <pc:chgData name="Bubenheimer, Martin" userId="1b9f7de3-769f-4fd2-be65-b36ce3b90b64" providerId="ADAL" clId="{6EEBBC3F-664C-4280-B373-3D24CD3FFE5B}" dt="2026-08-24T19:11:43.513" v="1480" actId="47"/>
        <pc:sldMkLst>
          <pc:docMk/>
          <pc:sldMk cId="4267588492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705B3F-3B1D-4AA2-8C74-87C80A92D7C5}" type="datetimeFigureOut">
              <a:rPr lang="en-DE" smtClean="0"/>
              <a:t>10/13/2026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FB4721-2B7E-4B6C-8B12-AD61EF839228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81725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B4721-2B7E-4B6C-8B12-AD61EF839228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60925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Ich nehme euch mit auf eine Reise, was wir so in unserer Community of Practice bei uns im Unternehmen machen.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B4721-2B7E-4B6C-8B12-AD61EF839228}" type="slidenum">
              <a:rPr lang="en-DE" smtClean="0"/>
              <a:t>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917328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B4721-2B7E-4B6C-8B12-AD61EF839228}" type="slidenum">
              <a:rPr lang="en-DE" smtClean="0"/>
              <a:t>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180309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Beispiel</a:t>
            </a:r>
            <a:r>
              <a:rPr lang="en-GB" dirty="0"/>
              <a:t>: Top N Filter versus Top N </a:t>
            </a:r>
            <a:r>
              <a:rPr lang="en-GB" dirty="0" err="1"/>
              <a:t>Berechnungsgruppe</a:t>
            </a:r>
            <a:endParaRPr lang="en-GB" dirty="0"/>
          </a:p>
          <a:p>
            <a:endParaRPr lang="en-GB" dirty="0"/>
          </a:p>
          <a:p>
            <a:r>
              <a:rPr lang="en-GB" dirty="0" err="1"/>
              <a:t>Unterschied</a:t>
            </a:r>
            <a:r>
              <a:rPr lang="en-GB" dirty="0"/>
              <a:t> </a:t>
            </a:r>
            <a:r>
              <a:rPr lang="en-GB" dirty="0" err="1"/>
              <a:t>zum</a:t>
            </a:r>
            <a:r>
              <a:rPr lang="en-GB" dirty="0"/>
              <a:t> Top N Filter auf Visual Ebene </a:t>
            </a:r>
            <a:r>
              <a:rPr lang="en-GB" dirty="0" err="1"/>
              <a:t>ist</a:t>
            </a:r>
            <a:r>
              <a:rPr lang="en-GB" dirty="0"/>
              <a:t>, </a:t>
            </a:r>
            <a:r>
              <a:rPr lang="en-GB" dirty="0" err="1"/>
              <a:t>dass</a:t>
            </a:r>
            <a:r>
              <a:rPr lang="en-GB" dirty="0"/>
              <a:t> </a:t>
            </a:r>
            <a:r>
              <a:rPr lang="en-GB" dirty="0" err="1"/>
              <a:t>mit</a:t>
            </a:r>
            <a:r>
              <a:rPr lang="en-GB" dirty="0"/>
              <a:t> der </a:t>
            </a:r>
            <a:r>
              <a:rPr lang="en-GB" dirty="0" err="1"/>
              <a:t>Berechnungsgruppe</a:t>
            </a:r>
            <a:r>
              <a:rPr lang="en-GB" dirty="0"/>
              <a:t> die Top 5 Kunden </a:t>
            </a:r>
            <a:r>
              <a:rPr lang="en-GB" dirty="0" err="1"/>
              <a:t>innerhalb</a:t>
            </a:r>
            <a:r>
              <a:rPr lang="en-GB" dirty="0"/>
              <a:t> </a:t>
            </a:r>
            <a:r>
              <a:rPr lang="en-GB" dirty="0" err="1"/>
              <a:t>einer</a:t>
            </a:r>
            <a:r>
              <a:rPr lang="en-GB" dirty="0"/>
              <a:t> </a:t>
            </a:r>
            <a:r>
              <a:rPr lang="en-GB" dirty="0" err="1"/>
              <a:t>Kategorie</a:t>
            </a:r>
            <a:r>
              <a:rPr lang="en-GB" dirty="0"/>
              <a:t>, </a:t>
            </a:r>
            <a:r>
              <a:rPr lang="en-GB" dirty="0" err="1"/>
              <a:t>z.B.</a:t>
            </a:r>
            <a:r>
              <a:rPr lang="en-GB" dirty="0"/>
              <a:t> Jahr </a:t>
            </a:r>
            <a:r>
              <a:rPr lang="en-GB" dirty="0" err="1"/>
              <a:t>oder</a:t>
            </a:r>
            <a:r>
              <a:rPr lang="en-GB" dirty="0"/>
              <a:t> Region </a:t>
            </a:r>
            <a:r>
              <a:rPr lang="en-GB" dirty="0" err="1"/>
              <a:t>berechnet</a:t>
            </a:r>
            <a:r>
              <a:rPr lang="en-GB" dirty="0"/>
              <a:t> </a:t>
            </a:r>
            <a:r>
              <a:rPr lang="en-GB" dirty="0" err="1"/>
              <a:t>werden</a:t>
            </a:r>
            <a:r>
              <a:rPr lang="en-GB" dirty="0"/>
              <a:t> </a:t>
            </a:r>
            <a:r>
              <a:rPr lang="en-GB" dirty="0" err="1"/>
              <a:t>können</a:t>
            </a:r>
            <a:r>
              <a:rPr lang="en-GB" dirty="0"/>
              <a:t>, </a:t>
            </a:r>
            <a:r>
              <a:rPr lang="en-GB" dirty="0" err="1"/>
              <a:t>wären</a:t>
            </a:r>
            <a:r>
              <a:rPr lang="en-GB" dirty="0"/>
              <a:t> der Filter auf Visual Ebene 5 Kunden für das </a:t>
            </a:r>
            <a:r>
              <a:rPr lang="en-GB" dirty="0" err="1"/>
              <a:t>gesamte</a:t>
            </a:r>
            <a:r>
              <a:rPr lang="en-GB" dirty="0"/>
              <a:t> Visual </a:t>
            </a:r>
            <a:r>
              <a:rPr lang="en-GB" dirty="0" err="1"/>
              <a:t>auswählt</a:t>
            </a:r>
            <a:r>
              <a:rPr lang="en-GB" dirty="0"/>
              <a:t>.</a:t>
            </a:r>
          </a:p>
          <a:p>
            <a:r>
              <a:rPr lang="en-GB" dirty="0" err="1"/>
              <a:t>Beispiel</a:t>
            </a:r>
            <a:r>
              <a:rPr lang="en-GB" dirty="0"/>
              <a:t> In </a:t>
            </a:r>
            <a:r>
              <a:rPr lang="en-GB" b="1" dirty="0"/>
              <a:t>DIAD </a:t>
            </a:r>
            <a:r>
              <a:rPr lang="en-GB" b="1" dirty="0" err="1"/>
              <a:t>Final.pbix</a:t>
            </a:r>
            <a:endParaRPr lang="en-GB" b="0" dirty="0"/>
          </a:p>
          <a:p>
            <a:endParaRPr lang="en-GB" dirty="0"/>
          </a:p>
          <a:p>
            <a:r>
              <a:rPr lang="en-GB" dirty="0" err="1"/>
              <a:t>Beispiele</a:t>
            </a:r>
            <a:r>
              <a:rPr lang="en-GB" dirty="0"/>
              <a:t>:</a:t>
            </a:r>
          </a:p>
          <a:p>
            <a:pPr marL="228600" indent="-228600">
              <a:buFont typeface="+mj-lt"/>
              <a:buAutoNum type="arabicPeriod"/>
            </a:pPr>
            <a:r>
              <a:rPr lang="en-GB" dirty="0"/>
              <a:t>Top 5 Kunden (</a:t>
            </a:r>
            <a:r>
              <a:rPr lang="en-GB" dirty="0" err="1"/>
              <a:t>bzw</a:t>
            </a:r>
            <a:r>
              <a:rPr lang="en-GB" dirty="0"/>
              <a:t>. </a:t>
            </a:r>
            <a:r>
              <a:rPr lang="en-GB" dirty="0" err="1"/>
              <a:t>ZipCountry</a:t>
            </a:r>
            <a:r>
              <a:rPr lang="en-GB" dirty="0"/>
              <a:t>) </a:t>
            </a:r>
            <a:r>
              <a:rPr lang="en-GB" dirty="0" err="1"/>
              <a:t>nach</a:t>
            </a:r>
            <a:r>
              <a:rPr lang="en-GB" dirty="0"/>
              <a:t> </a:t>
            </a:r>
            <a:r>
              <a:rPr lang="en-GB" dirty="0" err="1"/>
              <a:t>Anzahl</a:t>
            </a:r>
            <a:r>
              <a:rPr lang="en-GB" dirty="0"/>
              <a:t> </a:t>
            </a:r>
            <a:r>
              <a:rPr lang="en-GB" dirty="0" err="1"/>
              <a:t>Bestellungen</a:t>
            </a:r>
            <a:r>
              <a:rPr lang="en-GB" dirty="0"/>
              <a:t> → DIAD</a:t>
            </a:r>
          </a:p>
          <a:p>
            <a:pPr marL="228600" indent="-228600">
              <a:buFont typeface="+mj-lt"/>
              <a:buAutoNum type="arabicPeriod"/>
            </a:pPr>
            <a:r>
              <a:rPr lang="en-GB" dirty="0" err="1"/>
              <a:t>Übungen</a:t>
            </a:r>
            <a:r>
              <a:rPr lang="en-GB" dirty="0"/>
              <a:t> </a:t>
            </a:r>
            <a:r>
              <a:rPr lang="en-GB" dirty="0" err="1"/>
              <a:t>aus</a:t>
            </a:r>
            <a:r>
              <a:rPr lang="en-GB" dirty="0"/>
              <a:t> </a:t>
            </a:r>
            <a:r>
              <a:rPr lang="en-GB" dirty="0" err="1"/>
              <a:t>Sprechblasen</a:t>
            </a:r>
            <a:r>
              <a:rPr lang="en-GB" dirty="0"/>
              <a:t> in DIAD Report.</a:t>
            </a:r>
            <a:endParaRPr lang="en-DE" dirty="0"/>
          </a:p>
          <a:p>
            <a:endParaRPr lang="en-DE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B4721-2B7E-4B6C-8B12-AD61EF839228}" type="slidenum">
              <a:rPr lang="en-DE" smtClean="0"/>
              <a:t>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004796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Beispiele</a:t>
            </a:r>
            <a:r>
              <a:rPr lang="en-GB" dirty="0"/>
              <a:t> </a:t>
            </a:r>
            <a:r>
              <a:rPr lang="en-GB" dirty="0" err="1"/>
              <a:t>aus</a:t>
            </a:r>
            <a:r>
              <a:rPr lang="en-GB" dirty="0"/>
              <a:t> </a:t>
            </a:r>
            <a:r>
              <a:rPr lang="en-GB" dirty="0" err="1"/>
              <a:t>Sprechblasen</a:t>
            </a:r>
            <a:r>
              <a:rPr lang="en-GB" dirty="0"/>
              <a:t> in DIAD Report.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B4721-2B7E-4B6C-8B12-AD61EF839228}" type="slidenum">
              <a:rPr lang="en-DE" smtClean="0"/>
              <a:t>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466160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Hohe Zahl = </a:t>
            </a:r>
            <a:r>
              <a:rPr lang="en-GB" dirty="0" err="1"/>
              <a:t>hohe</a:t>
            </a:r>
            <a:r>
              <a:rPr lang="en-GB" dirty="0"/>
              <a:t> Position = </a:t>
            </a:r>
            <a:r>
              <a:rPr lang="en-GB" dirty="0" err="1"/>
              <a:t>äußeres</a:t>
            </a:r>
            <a:r>
              <a:rPr lang="en-GB" dirty="0"/>
              <a:t> CALCULATE()</a:t>
            </a:r>
          </a:p>
          <a:p>
            <a:endParaRPr lang="en-GB" dirty="0"/>
          </a:p>
          <a:p>
            <a:r>
              <a:rPr lang="en-GB" i="1" dirty="0" err="1"/>
              <a:t>Zuerst</a:t>
            </a:r>
            <a:r>
              <a:rPr lang="en-GB" i="1" dirty="0"/>
              <a:t> </a:t>
            </a:r>
            <a:r>
              <a:rPr lang="en-GB" i="1" dirty="0" err="1"/>
              <a:t>Teilnehmer</a:t>
            </a:r>
            <a:r>
              <a:rPr lang="en-GB" i="1" dirty="0"/>
              <a:t> </a:t>
            </a:r>
            <a:r>
              <a:rPr lang="en-GB" i="1" dirty="0" err="1"/>
              <a:t>fragen</a:t>
            </a:r>
            <a:r>
              <a:rPr lang="en-GB" i="1" dirty="0"/>
              <a:t>, was dieses </a:t>
            </a:r>
            <a:r>
              <a:rPr lang="en-GB" i="1" dirty="0" err="1"/>
              <a:t>Beispiel</a:t>
            </a:r>
            <a:r>
              <a:rPr lang="en-GB" i="1" dirty="0"/>
              <a:t> </a:t>
            </a:r>
            <a:r>
              <a:rPr lang="en-GB" i="1" dirty="0" err="1"/>
              <a:t>berechnet</a:t>
            </a:r>
            <a:r>
              <a:rPr lang="en-GB" i="1" dirty="0"/>
              <a:t>.</a:t>
            </a:r>
          </a:p>
          <a:p>
            <a:r>
              <a:rPr lang="en-GB" dirty="0"/>
              <a:t>Dieses </a:t>
            </a:r>
            <a:r>
              <a:rPr lang="en-GB" dirty="0" err="1"/>
              <a:t>Beispiel</a:t>
            </a:r>
            <a:r>
              <a:rPr lang="en-GB" dirty="0"/>
              <a:t> </a:t>
            </a:r>
            <a:r>
              <a:rPr lang="en-GB" dirty="0" err="1"/>
              <a:t>berechnet</a:t>
            </a:r>
            <a:r>
              <a:rPr lang="en-GB" dirty="0"/>
              <a:t> die </a:t>
            </a:r>
            <a:r>
              <a:rPr lang="en-GB" dirty="0" err="1"/>
              <a:t>Umsatzentwicklung</a:t>
            </a:r>
            <a:r>
              <a:rPr lang="en-GB" dirty="0"/>
              <a:t> der </a:t>
            </a:r>
            <a:r>
              <a:rPr lang="en-GB" dirty="0" err="1"/>
              <a:t>heutigen</a:t>
            </a:r>
            <a:r>
              <a:rPr lang="en-GB" dirty="0"/>
              <a:t> </a:t>
            </a:r>
            <a:r>
              <a:rPr lang="en-GB" dirty="0" err="1"/>
              <a:t>TopN</a:t>
            </a:r>
            <a:r>
              <a:rPr lang="en-GB" dirty="0"/>
              <a:t> Kunden,</a:t>
            </a:r>
          </a:p>
          <a:p>
            <a:r>
              <a:rPr lang="en-GB" dirty="0"/>
              <a:t>nicht den </a:t>
            </a:r>
            <a:r>
              <a:rPr lang="en-GB" dirty="0" err="1"/>
              <a:t>Unterschied</a:t>
            </a:r>
            <a:r>
              <a:rPr lang="en-GB" dirty="0"/>
              <a:t> </a:t>
            </a:r>
            <a:r>
              <a:rPr lang="en-GB" dirty="0" err="1"/>
              <a:t>zwischen</a:t>
            </a:r>
            <a:r>
              <a:rPr lang="en-GB" dirty="0"/>
              <a:t> den </a:t>
            </a:r>
            <a:r>
              <a:rPr lang="en-GB" dirty="0" err="1"/>
              <a:t>TopN</a:t>
            </a:r>
            <a:r>
              <a:rPr lang="en-GB" dirty="0"/>
              <a:t> Kunden von </a:t>
            </a:r>
            <a:r>
              <a:rPr lang="en-GB" dirty="0" err="1"/>
              <a:t>heute</a:t>
            </a:r>
            <a:r>
              <a:rPr lang="en-GB" dirty="0"/>
              <a:t> und den </a:t>
            </a:r>
            <a:r>
              <a:rPr lang="en-GB" dirty="0" err="1"/>
              <a:t>TopN</a:t>
            </a:r>
            <a:r>
              <a:rPr lang="en-GB" dirty="0"/>
              <a:t> Kunden von </a:t>
            </a:r>
            <a:r>
              <a:rPr lang="en-GB" dirty="0" err="1"/>
              <a:t>letztem</a:t>
            </a:r>
            <a:r>
              <a:rPr lang="en-GB" dirty="0"/>
              <a:t> Jahr.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B4721-2B7E-4B6C-8B12-AD61EF839228}" type="slidenum">
              <a:rPr lang="en-DE" smtClean="0"/>
              <a:t>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694405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Beispiel: </a:t>
            </a:r>
            <a:r>
              <a:rPr lang="de-DE" dirty="0" err="1"/>
              <a:t>TopN</a:t>
            </a:r>
            <a:r>
              <a:rPr lang="de-DE" dirty="0"/>
              <a:t> Filter</a:t>
            </a:r>
          </a:p>
          <a:p>
            <a:r>
              <a:rPr lang="de-DE" dirty="0"/>
              <a:t>Beispiele Namenskonventionen:</a:t>
            </a:r>
          </a:p>
          <a:p>
            <a:r>
              <a:rPr lang="de-DE" dirty="0"/>
              <a:t>TOPNFILTER → wie eingebaute Funktion</a:t>
            </a:r>
          </a:p>
          <a:p>
            <a:r>
              <a:rPr lang="de-DE" dirty="0" err="1"/>
              <a:t>fTopnfilter</a:t>
            </a:r>
            <a:r>
              <a:rPr lang="de-DE" dirty="0"/>
              <a:t> → alle eigenen Funktionen mit f beginnen</a:t>
            </a:r>
          </a:p>
          <a:p>
            <a:r>
              <a:rPr lang="de-DE" dirty="0" err="1"/>
              <a:t>Local.TopNFilter</a:t>
            </a:r>
            <a:r>
              <a:rPr lang="de-DE" dirty="0"/>
              <a:t> → Namespaces mit . Besonders, wenn Bibliotheken verwendet werden sollen, wie daxlib.org 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B4721-2B7E-4B6C-8B12-AD61EF839228}" type="slidenum">
              <a:rPr lang="en-DE" smtClean="0"/>
              <a:t>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369592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Was ist universeller?</a:t>
            </a:r>
          </a:p>
          <a:p>
            <a:r>
              <a:rPr lang="de-DE" dirty="0"/>
              <a:t>Was ist verständlicher?</a:t>
            </a:r>
          </a:p>
          <a:p>
            <a:r>
              <a:rPr lang="de-DE" dirty="0"/>
              <a:t>Was ist wartbarer?</a:t>
            </a:r>
            <a:br>
              <a:rPr lang="de-DE" dirty="0"/>
            </a:br>
            <a:r>
              <a:rPr lang="de-DE" dirty="0" err="1"/>
              <a:t>Was</a:t>
            </a:r>
            <a:r>
              <a:rPr lang="de-DE" dirty="0"/>
              <a:t> ist das kleinste Übel? → Mit </a:t>
            </a:r>
            <a:r>
              <a:rPr lang="de-DE"/>
              <a:t>DAX Studio </a:t>
            </a:r>
            <a:r>
              <a:rPr lang="de-DE" dirty="0"/>
              <a:t>messen!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B4721-2B7E-4B6C-8B12-AD61EF839228}" type="slidenum">
              <a:rPr lang="en-DE" smtClean="0"/>
              <a:t>11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311970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Übungsbeispiele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B4721-2B7E-4B6C-8B12-AD61EF839228}" type="slidenum">
              <a:rPr lang="en-DE" smtClean="0"/>
              <a:t>12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81809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2420F-5E11-7359-6EDD-DF5586EC84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29EC55-0A5E-DE4F-B289-0A35ECED92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D0888-1B14-0507-8A4A-3B1888C07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3CDA8-8D66-4362-A217-DC01E15BEB50}" type="datetimeFigureOut">
              <a:rPr lang="en-DE" smtClean="0"/>
              <a:t>10/13/2026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3439B-4D2F-F274-0BA2-7761757A6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1B492-8965-761A-FDF4-2DC7F6DC8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8A7BD-A02B-4A7E-8D43-2DFB3C16E551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02605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84731-27BD-E027-0F6B-5D253E114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639E5-27C4-4B84-A9BD-D3BE70EB6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C5C12-1FAD-A8C2-E490-58314CC51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3CDA8-8D66-4362-A217-DC01E15BEB50}" type="datetimeFigureOut">
              <a:rPr lang="en-DE" smtClean="0"/>
              <a:t>10/13/2026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AB699-1BC5-8CFA-7E3A-914D376E2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0CF6D-8B31-8006-D058-EC2E72AC3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8A7BD-A02B-4A7E-8D43-2DFB3C16E551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49384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32AE7-FD22-1380-8609-ABAB9382B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C3C92-F26B-0FE2-EC2C-91C64250FF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5C912-4F0D-C90A-783F-12FEA03CD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3CDA8-8D66-4362-A217-DC01E15BEB50}" type="datetimeFigureOut">
              <a:rPr lang="en-DE" smtClean="0"/>
              <a:t>10/13/2026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0790C-856D-D228-2102-E959A9B15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0874B-93A0-9D8D-470D-081BFF0C0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8A7BD-A02B-4A7E-8D43-2DFB3C16E551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1934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4C51B-F0F2-8328-03DD-E863193DF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7E4A6-E411-7434-3814-5B607BB58A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29B6A5-9386-79A7-187B-2AEC6E205D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D5CA20-3F62-887C-427B-5B3F176C9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3CDA8-8D66-4362-A217-DC01E15BEB50}" type="datetimeFigureOut">
              <a:rPr lang="en-DE" smtClean="0"/>
              <a:t>10/13/2026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5C8B80-DBC5-3B57-EC2E-EB3C07964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54310-F2F8-16DC-276B-6D9C14CE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8A7BD-A02B-4A7E-8D43-2DFB3C16E551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05307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4F871-B51A-8299-FC32-57066E89A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D7C891-662F-4ADE-9B0E-0B44EA225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CC2020-2B2A-2A8F-8368-A23D0D4609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CE89E5-F382-7A1E-1091-6025AE4241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EB4F44-3AC6-B176-7E83-BF925D4FED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936FE8-6451-D830-BE38-A566D5198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3CDA8-8D66-4362-A217-DC01E15BEB50}" type="datetimeFigureOut">
              <a:rPr lang="en-DE" smtClean="0"/>
              <a:t>10/13/2026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C86417-08E8-BE58-575F-D0F8A8E59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873B14-D0BA-112B-9D2E-0EE0A3BEA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8A7BD-A02B-4A7E-8D43-2DFB3C16E551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15655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CF975-5A5B-A90E-D432-34F068431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4279CF-B477-4554-1C23-5993CBD0B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3CDA8-8D66-4362-A217-DC01E15BEB50}" type="datetimeFigureOut">
              <a:rPr lang="en-DE" smtClean="0"/>
              <a:t>10/13/2026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9046DD-159B-A21B-56F6-FD8B0AF1C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E669E0-038C-B3D9-43DF-72322C2B4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8A7BD-A02B-4A7E-8D43-2DFB3C16E551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4818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94331A-700C-C20D-C9A6-EA1FD9C64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3CDA8-8D66-4362-A217-DC01E15BEB50}" type="datetimeFigureOut">
              <a:rPr lang="en-DE" smtClean="0"/>
              <a:t>10/13/2026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BEAA0E-2403-8AF7-081A-0F1F0B313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AA9BDC-D5ED-6738-5EF6-407DD0FF3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8A7BD-A02B-4A7E-8D43-2DFB3C16E551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74619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20CEE-A56D-64CB-EB94-7C16F95C5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D7F10-6C33-9417-85F6-2631BB638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4F4BFC-3ABD-C117-85ED-A31E0D832B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CADB93-1D17-76E1-4863-E595012BB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3CDA8-8D66-4362-A217-DC01E15BEB50}" type="datetimeFigureOut">
              <a:rPr lang="en-DE" smtClean="0"/>
              <a:t>10/13/2026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65ED20-7DF5-80EB-2BC7-21696BD1C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D4E45-C1B7-F6EB-E4C0-61CB0431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8A7BD-A02B-4A7E-8D43-2DFB3C16E551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97046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3A48B-9E29-6D75-CBD3-75CCC0D45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E1BD09-5D8D-6687-6412-F324BE636B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A15698-4C4F-2590-53C8-4CF66E1CFF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7FB240-E641-BE58-D18C-8C6F464C0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3CDA8-8D66-4362-A217-DC01E15BEB50}" type="datetimeFigureOut">
              <a:rPr lang="en-DE" smtClean="0"/>
              <a:t>10/13/2026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D55211-EE88-8859-AB67-1BC9CACDF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213ABE-068A-7A76-99D3-405C27547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8A7BD-A02B-4A7E-8D43-2DFB3C16E551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7287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360ED-9A99-E759-3D4A-32637F7E8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6615E8-8020-C997-FD8E-3A2312CF23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69925-544D-D95C-D001-52B42363A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3CDA8-8D66-4362-A217-DC01E15BEB50}" type="datetimeFigureOut">
              <a:rPr lang="en-DE" smtClean="0"/>
              <a:t>10/13/2026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B1D4E-42FE-A91B-60B6-406ACABC2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8536B-A33B-A4F0-4286-A7941FFB2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8A7BD-A02B-4A7E-8D43-2DFB3C16E551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67202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5FACCD-8EC9-5871-5C4D-72C1840C3B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BEE89F-A458-2800-000E-0E91586B25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BAF6F-7D9B-95CD-D91D-3BD2791ED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3CDA8-8D66-4362-A217-DC01E15BEB50}" type="datetimeFigureOut">
              <a:rPr lang="en-DE" smtClean="0"/>
              <a:t>10/13/2026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3E91-FD09-3F3F-BF0B-7BC672AF7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7D66F-0916-93E3-517B-8842A8AEC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8A7BD-A02B-4A7E-8D43-2DFB3C16E551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4639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2C2A56-0115-B059-988E-4A1B0E42A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30324-30EB-4BE8-CB44-1EA5ACD6BC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FBCF6-E3C8-804E-8055-679ABE8D3D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53CDA8-8D66-4362-A217-DC01E15BEB50}" type="datetimeFigureOut">
              <a:rPr lang="en-DE" smtClean="0"/>
              <a:t>10/13/2026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3F7AE-124C-C647-9DC1-2B8AFC488B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8FB32-720C-3993-9E69-1183756A02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E8A7BD-A02B-4A7E-8D43-2DFB3C16E551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11564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F28F7-08EC-E348-749B-4CB6CF7F95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D47EB7-0A3C-25AC-E966-6992D743AC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906712"/>
          </a:xfrm>
        </p:spPr>
        <p:txBody>
          <a:bodyPr anchor="b"/>
          <a:lstStyle/>
          <a:p>
            <a:r>
              <a:rPr lang="en-GB" dirty="0" err="1"/>
              <a:t>Kursmaterial</a:t>
            </a:r>
            <a:r>
              <a:rPr lang="en-GB" dirty="0"/>
              <a:t> auf </a:t>
            </a:r>
            <a:r>
              <a:rPr lang="en-GB" dirty="0" err="1"/>
              <a:t>Github</a:t>
            </a:r>
            <a:endParaRPr lang="en-GB" dirty="0"/>
          </a:p>
          <a:p>
            <a:r>
              <a:rPr lang="en-GB" dirty="0"/>
              <a:t>https://tinyurl.com/ysfk3ju4</a:t>
            </a:r>
            <a:endParaRPr lang="en-DE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6644869-C884-921F-EE2E-95E35904F0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43362" y="995362"/>
            <a:ext cx="4105275" cy="410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415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A5C3A7D-F851-0B7B-F387-397E9C6306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de-DE" noProof="0" dirty="0"/>
              <a:t>Von der fachlichen Anforderung zur Implementierung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22F5828-D719-99A5-B95E-1728FE8216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noProof="0" dirty="0"/>
              <a:t>Sprachbasierte Entwurfsmuster für die Umsetzung von fachlichen Anforderungen in Microsoft Power BI</a:t>
            </a:r>
          </a:p>
        </p:txBody>
      </p:sp>
    </p:spTree>
    <p:extLst>
      <p:ext uri="{BB962C8B-B14F-4D97-AF65-F5344CB8AC3E}">
        <p14:creationId xmlns:p14="http://schemas.microsoft.com/office/powerpoint/2010/main" val="4205553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EB031-5CAD-7825-AF44-9A81734F5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Fachliche Anforderungen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E3FC7B-E0AE-6511-BE8B-D2762B8C35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endParaRPr lang="de-DE" noProof="0" dirty="0"/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9A0764FD-92C8-EF7F-8429-0A6B712EE469}"/>
              </a:ext>
            </a:extLst>
          </p:cNvPr>
          <p:cNvSpPr/>
          <p:nvPr/>
        </p:nvSpPr>
        <p:spPr>
          <a:xfrm>
            <a:off x="7109934" y="2319672"/>
            <a:ext cx="3762357" cy="842772"/>
          </a:xfrm>
          <a:prstGeom prst="wedgeRoundRectCallout">
            <a:avLst>
              <a:gd name="adj1" fmla="val -61920"/>
              <a:gd name="adj2" fmla="val 37776"/>
              <a:gd name="adj3" fmla="val 16667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„Zeige den Umsatz des aktuellen Monats im Vergleich zum gleichen Monat des </a:t>
            </a:r>
            <a:r>
              <a:rPr lang="de-DE" sz="1400" b="1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Vorjahres</a:t>
            </a:r>
            <a:r>
              <a:rPr lang="de-DE" sz="1400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und die </a:t>
            </a:r>
            <a:r>
              <a:rPr lang="de-DE" sz="1400" b="1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prozentuale Veränderung</a:t>
            </a:r>
            <a:r>
              <a:rPr lang="de-DE" sz="1400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.“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7F080DD-6F3F-3307-B891-29848E587C19}"/>
              </a:ext>
            </a:extLst>
          </p:cNvPr>
          <p:cNvGrpSpPr/>
          <p:nvPr/>
        </p:nvGrpSpPr>
        <p:grpSpPr>
          <a:xfrm>
            <a:off x="5621087" y="2869024"/>
            <a:ext cx="1462214" cy="1094922"/>
            <a:chOff x="1245475" y="3402366"/>
            <a:chExt cx="1462214" cy="1094922"/>
          </a:xfrm>
        </p:grpSpPr>
        <p:pic>
          <p:nvPicPr>
            <p:cNvPr id="7" name="Graphic 6" descr="User outline">
              <a:extLst>
                <a:ext uri="{FF2B5EF4-FFF2-40B4-BE49-F238E27FC236}">
                  <a16:creationId xmlns:a16="http://schemas.microsoft.com/office/drawing/2014/main" id="{35271231-9CAE-7680-CC65-457BF569815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519382" y="3402366"/>
              <a:ext cx="914400" cy="9144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4AFAF67-BF6A-CD88-D2FC-903E484972A4}"/>
                </a:ext>
              </a:extLst>
            </p:cNvPr>
            <p:cNvSpPr txBox="1"/>
            <p:nvPr/>
          </p:nvSpPr>
          <p:spPr>
            <a:xfrm>
              <a:off x="1245475" y="4189511"/>
              <a:ext cx="14622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400" noProof="0" dirty="0"/>
                <a:t>Vertrieb</a:t>
              </a:r>
            </a:p>
          </p:txBody>
        </p:sp>
      </p:grp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9D7E2F5E-F1DE-C6E9-E80F-516E1D1D57F2}"/>
              </a:ext>
            </a:extLst>
          </p:cNvPr>
          <p:cNvSpPr/>
          <p:nvPr/>
        </p:nvSpPr>
        <p:spPr>
          <a:xfrm>
            <a:off x="2937431" y="1614214"/>
            <a:ext cx="3672840" cy="842772"/>
          </a:xfrm>
          <a:prstGeom prst="wedgeRoundRectCallout">
            <a:avLst>
              <a:gd name="adj1" fmla="val 37908"/>
              <a:gd name="adj2" fmla="val 99926"/>
              <a:gd name="adj3" fmla="val 16667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„Ein Kunde gilt als </a:t>
            </a:r>
            <a:r>
              <a:rPr lang="de-DE" sz="1400" b="1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Neukunde</a:t>
            </a:r>
            <a:r>
              <a:rPr lang="de-DE" sz="1400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wenn er im ausgewählten Zeitraum seinen ersten Auftrag überhaupt hatte.“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4686344-F38D-18A4-A7F3-BD82E0462CCA}"/>
              </a:ext>
            </a:extLst>
          </p:cNvPr>
          <p:cNvGrpSpPr/>
          <p:nvPr/>
        </p:nvGrpSpPr>
        <p:grpSpPr>
          <a:xfrm>
            <a:off x="4166747" y="3747245"/>
            <a:ext cx="1462214" cy="1094922"/>
            <a:chOff x="1245475" y="3402366"/>
            <a:chExt cx="1462214" cy="1094922"/>
          </a:xfrm>
        </p:grpSpPr>
        <p:pic>
          <p:nvPicPr>
            <p:cNvPr id="12" name="Graphic 11" descr="User outline">
              <a:extLst>
                <a:ext uri="{FF2B5EF4-FFF2-40B4-BE49-F238E27FC236}">
                  <a16:creationId xmlns:a16="http://schemas.microsoft.com/office/drawing/2014/main" id="{5DF2D87C-96E9-111E-90B9-9935E57DA13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519382" y="3402366"/>
              <a:ext cx="914400" cy="9144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F1A0966-F314-8DAF-D576-A03AE6092052}"/>
                </a:ext>
              </a:extLst>
            </p:cNvPr>
            <p:cNvSpPr txBox="1"/>
            <p:nvPr/>
          </p:nvSpPr>
          <p:spPr>
            <a:xfrm>
              <a:off x="1245475" y="4189511"/>
              <a:ext cx="14622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400" noProof="0" dirty="0"/>
                <a:t>Controlling</a:t>
              </a:r>
            </a:p>
          </p:txBody>
        </p:sp>
      </p:grp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1D807B6C-07DA-3ACE-8D28-DD597E73DBC9}"/>
              </a:ext>
            </a:extLst>
          </p:cNvPr>
          <p:cNvSpPr/>
          <p:nvPr/>
        </p:nvSpPr>
        <p:spPr>
          <a:xfrm>
            <a:off x="333424" y="3198127"/>
            <a:ext cx="3816067" cy="842772"/>
          </a:xfrm>
          <a:prstGeom prst="wedgeRoundRectCallout">
            <a:avLst>
              <a:gd name="adj1" fmla="val 55846"/>
              <a:gd name="adj2" fmla="val 86803"/>
              <a:gd name="adj3" fmla="val 16667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„Zeige für jede Kostenstelle die Ist-Kosten, das Budget und die Abweichung. </a:t>
            </a:r>
            <a:r>
              <a:rPr lang="de-DE" sz="1400" b="1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Nicht bebuchte Kostenstellen sollen trotzdem erscheinen.</a:t>
            </a:r>
            <a:r>
              <a:rPr lang="de-DE" sz="1400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“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3D33DB2-5A7D-F8A8-1C3B-62DF0419A2AF}"/>
              </a:ext>
            </a:extLst>
          </p:cNvPr>
          <p:cNvGrpSpPr/>
          <p:nvPr/>
        </p:nvGrpSpPr>
        <p:grpSpPr>
          <a:xfrm>
            <a:off x="5988776" y="4342471"/>
            <a:ext cx="1462214" cy="1094922"/>
            <a:chOff x="1245475" y="3402366"/>
            <a:chExt cx="1462214" cy="1094922"/>
          </a:xfrm>
        </p:grpSpPr>
        <p:pic>
          <p:nvPicPr>
            <p:cNvPr id="16" name="Graphic 15" descr="User outline">
              <a:extLst>
                <a:ext uri="{FF2B5EF4-FFF2-40B4-BE49-F238E27FC236}">
                  <a16:creationId xmlns:a16="http://schemas.microsoft.com/office/drawing/2014/main" id="{287B4DDC-A814-9C93-3A2C-5478AFD1B6E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519382" y="3402366"/>
              <a:ext cx="914400" cy="914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9D8DDA3-D8E4-7FEE-67E6-7C36CBD30B5C}"/>
                </a:ext>
              </a:extLst>
            </p:cNvPr>
            <p:cNvSpPr txBox="1"/>
            <p:nvPr/>
          </p:nvSpPr>
          <p:spPr>
            <a:xfrm>
              <a:off x="1245475" y="4189511"/>
              <a:ext cx="14622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400" noProof="0" dirty="0"/>
                <a:t>Marketing</a:t>
              </a:r>
            </a:p>
          </p:txBody>
        </p:sp>
      </p:grpSp>
      <p:sp>
        <p:nvSpPr>
          <p:cNvPr id="18" name="Speech Bubble: Rectangle with Corners Rounded 17">
            <a:extLst>
              <a:ext uri="{FF2B5EF4-FFF2-40B4-BE49-F238E27FC236}">
                <a16:creationId xmlns:a16="http://schemas.microsoft.com/office/drawing/2014/main" id="{184004E5-D6A0-D905-A00C-AF62178C4026}"/>
              </a:ext>
            </a:extLst>
          </p:cNvPr>
          <p:cNvSpPr/>
          <p:nvPr/>
        </p:nvSpPr>
        <p:spPr>
          <a:xfrm>
            <a:off x="2318554" y="5509732"/>
            <a:ext cx="3816067" cy="842772"/>
          </a:xfrm>
          <a:prstGeom prst="wedgeRoundRectCallout">
            <a:avLst>
              <a:gd name="adj1" fmla="val 49656"/>
              <a:gd name="adj2" fmla="val -108496"/>
              <a:gd name="adj3" fmla="val 16667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„Zeige nur Kunden, die </a:t>
            </a:r>
            <a:r>
              <a:rPr lang="de-DE" sz="1400" b="1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 letzten Jahr</a:t>
            </a:r>
            <a:r>
              <a:rPr lang="de-DE" sz="1400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gekauft haben, </a:t>
            </a:r>
            <a:r>
              <a:rPr lang="de-DE" sz="1400" b="1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 den vergangenen 90 Tagen </a:t>
            </a:r>
            <a:r>
              <a:rPr lang="de-DE" sz="1400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aber </a:t>
            </a:r>
            <a:r>
              <a:rPr lang="de-DE" sz="1400" b="1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keinen</a:t>
            </a:r>
            <a:r>
              <a:rPr lang="de-DE" sz="1400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Auftrag mehr hatten.“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FEFD785-5B76-2B4E-EB4F-82E0A085C8F3}"/>
              </a:ext>
            </a:extLst>
          </p:cNvPr>
          <p:cNvGrpSpPr/>
          <p:nvPr/>
        </p:nvGrpSpPr>
        <p:grpSpPr>
          <a:xfrm>
            <a:off x="7382337" y="3493438"/>
            <a:ext cx="1462214" cy="1094922"/>
            <a:chOff x="1245475" y="3402366"/>
            <a:chExt cx="1462214" cy="1094922"/>
          </a:xfrm>
        </p:grpSpPr>
        <p:pic>
          <p:nvPicPr>
            <p:cNvPr id="20" name="Graphic 19" descr="User outline">
              <a:extLst>
                <a:ext uri="{FF2B5EF4-FFF2-40B4-BE49-F238E27FC236}">
                  <a16:creationId xmlns:a16="http://schemas.microsoft.com/office/drawing/2014/main" id="{C64E54B9-3412-B042-083B-4779CA8E861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519382" y="3402366"/>
              <a:ext cx="914400" cy="91440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6E8DB97-D05C-8E5C-EDD0-484816B78F49}"/>
                </a:ext>
              </a:extLst>
            </p:cNvPr>
            <p:cNvSpPr txBox="1"/>
            <p:nvPr/>
          </p:nvSpPr>
          <p:spPr>
            <a:xfrm>
              <a:off x="1245475" y="4189511"/>
              <a:ext cx="14622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400" noProof="0" dirty="0"/>
                <a:t>Vertriebsleiter</a:t>
              </a:r>
            </a:p>
          </p:txBody>
        </p:sp>
      </p:grpSp>
      <p:sp>
        <p:nvSpPr>
          <p:cNvPr id="22" name="Speech Bubble: Rectangle with Corners Rounded 21">
            <a:extLst>
              <a:ext uri="{FF2B5EF4-FFF2-40B4-BE49-F238E27FC236}">
                <a16:creationId xmlns:a16="http://schemas.microsoft.com/office/drawing/2014/main" id="{18DA817D-DA5D-4D58-70C9-23FA0EA033A0}"/>
              </a:ext>
            </a:extLst>
          </p:cNvPr>
          <p:cNvSpPr/>
          <p:nvPr/>
        </p:nvSpPr>
        <p:spPr>
          <a:xfrm>
            <a:off x="7752134" y="5130766"/>
            <a:ext cx="4071534" cy="842772"/>
          </a:xfrm>
          <a:prstGeom prst="wedgeRoundRectCallout">
            <a:avLst>
              <a:gd name="adj1" fmla="val -35187"/>
              <a:gd name="adj2" fmla="val -107126"/>
              <a:gd name="adj3" fmla="val 16667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„Ein Vertriebsmitarbeiter soll </a:t>
            </a:r>
            <a:r>
              <a:rPr lang="de-DE" sz="1400" b="1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seinen</a:t>
            </a:r>
            <a:r>
              <a:rPr lang="de-DE" sz="1400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Umsatz mit dem </a:t>
            </a:r>
            <a:r>
              <a:rPr lang="de-DE" sz="1400" b="1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durchschnittlichen</a:t>
            </a:r>
            <a:r>
              <a:rPr lang="de-DE" sz="1400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Umsatz der anderen Mitarbeiter seiner </a:t>
            </a:r>
            <a:r>
              <a:rPr lang="de-DE" sz="1400" b="1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Region</a:t>
            </a:r>
            <a:r>
              <a:rPr lang="de-DE" sz="1400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vergleichen können.“</a:t>
            </a:r>
          </a:p>
        </p:txBody>
      </p:sp>
    </p:spTree>
    <p:extLst>
      <p:ext uri="{BB962C8B-B14F-4D97-AF65-F5344CB8AC3E}">
        <p14:creationId xmlns:p14="http://schemas.microsoft.com/office/powerpoint/2010/main" val="1753979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901809C-6FAC-C8D2-E6C6-91427D768B48}"/>
              </a:ext>
            </a:extLst>
          </p:cNvPr>
          <p:cNvSpPr/>
          <p:nvPr/>
        </p:nvSpPr>
        <p:spPr>
          <a:xfrm>
            <a:off x="915720" y="4499483"/>
            <a:ext cx="1414060" cy="461106"/>
          </a:xfrm>
          <a:prstGeom prst="roundRect">
            <a:avLst/>
          </a:prstGeom>
          <a:solidFill>
            <a:srgbClr val="FFF0C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Statisch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04778E3-9858-9781-BB9C-7F5F81E5BD4A}"/>
              </a:ext>
            </a:extLst>
          </p:cNvPr>
          <p:cNvSpPr/>
          <p:nvPr/>
        </p:nvSpPr>
        <p:spPr>
          <a:xfrm>
            <a:off x="3118150" y="4499483"/>
            <a:ext cx="1414060" cy="461106"/>
          </a:xfrm>
          <a:prstGeom prst="roundRect">
            <a:avLst/>
          </a:prstGeom>
          <a:solidFill>
            <a:srgbClr val="FFF0C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Dynamisch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C8FA47F-B191-0FCB-7C2D-B86BFD0F5802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 flipH="1">
            <a:off x="1622750" y="4001294"/>
            <a:ext cx="1101215" cy="498189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86F894A-8BD5-B245-AC81-CD0EB84592D2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>
            <a:off x="2723965" y="4001294"/>
            <a:ext cx="1101215" cy="498189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0A1AA62-0C35-D4ED-1702-4E0DF965CF1B}"/>
              </a:ext>
            </a:extLst>
          </p:cNvPr>
          <p:cNvSpPr txBox="1"/>
          <p:nvPr/>
        </p:nvSpPr>
        <p:spPr>
          <a:xfrm>
            <a:off x="994299" y="5049684"/>
            <a:ext cx="15535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7800" indent="-177800">
              <a:buFont typeface="Arial" panose="020B0604020202020204" pitchFamily="34" charset="0"/>
              <a:buChar char="•"/>
            </a:pPr>
            <a:r>
              <a:rPr lang="de-DE" noProof="0" dirty="0"/>
              <a:t>Filter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de-DE" noProof="0" dirty="0"/>
              <a:t>Achsen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de-DE" noProof="0" dirty="0"/>
              <a:t>Legende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de-DE" noProof="0" dirty="0"/>
              <a:t>Kategorien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D1C5D9-5F2F-927C-2B97-0D5C1EE4E152}"/>
              </a:ext>
            </a:extLst>
          </p:cNvPr>
          <p:cNvSpPr txBox="1"/>
          <p:nvPr/>
        </p:nvSpPr>
        <p:spPr>
          <a:xfrm>
            <a:off x="3196954" y="5049684"/>
            <a:ext cx="27155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7800" indent="-177800">
              <a:buFont typeface="Arial" panose="020B0604020202020204" pitchFamily="34" charset="0"/>
              <a:buChar char="•"/>
            </a:pPr>
            <a:r>
              <a:rPr lang="de-DE" noProof="0" dirty="0"/>
              <a:t>„Neukunde“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de-DE" noProof="0" dirty="0"/>
              <a:t>„pünktliche Lieferung“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de-DE" noProof="0" dirty="0"/>
              <a:t>„aktive Mitarbeiter“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de-DE" noProof="0" dirty="0"/>
              <a:t>„Vorjahr“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0CBA11-30B2-4825-321E-87A3B0C15969}"/>
              </a:ext>
            </a:extLst>
          </p:cNvPr>
          <p:cNvSpPr txBox="1"/>
          <p:nvPr/>
        </p:nvSpPr>
        <p:spPr>
          <a:xfrm>
            <a:off x="8560705" y="4129871"/>
            <a:ext cx="31872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7800" indent="-177800">
              <a:buFont typeface="Arial" panose="020B0604020202020204" pitchFamily="34" charset="0"/>
              <a:buChar char="•"/>
            </a:pPr>
            <a:r>
              <a:rPr lang="de-DE" noProof="0" dirty="0"/>
              <a:t>nur Zahlenwerte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de-DE" noProof="0" dirty="0"/>
              <a:t>gleiche Einheit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de-DE" noProof="0" dirty="0"/>
              <a:t>andere Einheit, z.B. $ → %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de-DE" noProof="0" dirty="0"/>
              <a:t>„prozentuale Veränderung“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de-DE" noProof="0" dirty="0"/>
              <a:t>„Durchschnitt“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5C5F3A9-8EDE-A7C0-6855-93E687C6789E}"/>
              </a:ext>
            </a:extLst>
          </p:cNvPr>
          <p:cNvSpPr/>
          <p:nvPr/>
        </p:nvSpPr>
        <p:spPr>
          <a:xfrm>
            <a:off x="1622750" y="3283110"/>
            <a:ext cx="2202430" cy="718184"/>
          </a:xfrm>
          <a:prstGeom prst="roundRect">
            <a:avLst/>
          </a:prstGeom>
          <a:solidFill>
            <a:srgbClr val="FFF0C1"/>
          </a:solidFill>
          <a:ln w="254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b="1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Kontext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E11D48F-A859-EE99-445B-BB59383BAF8B}"/>
              </a:ext>
            </a:extLst>
          </p:cNvPr>
          <p:cNvSpPr/>
          <p:nvPr/>
        </p:nvSpPr>
        <p:spPr>
          <a:xfrm>
            <a:off x="8366820" y="3283110"/>
            <a:ext cx="2202430" cy="718184"/>
          </a:xfrm>
          <a:prstGeom prst="roundRect">
            <a:avLst/>
          </a:prstGeom>
          <a:solidFill>
            <a:srgbClr val="FFF0C1"/>
          </a:solidFill>
          <a:ln w="254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b="1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Berechnung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3796035-C774-1CDE-B87A-D67FC54405E9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2723965" y="2506980"/>
            <a:ext cx="3372035" cy="776130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C235EF5-934C-8F2A-2C22-66F7209EA447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6096000" y="2506980"/>
            <a:ext cx="3372035" cy="776130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A39C1C3-9C82-CF80-484C-26B912F12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Ein Wert ist eine Berechnung in einem Kontext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30EBCE-28C3-DB7F-4F1A-3E6175405E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horz"/>
          <a:lstStyle/>
          <a:p>
            <a:endParaRPr lang="de-DE" noProof="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90140CB-9A37-6C7A-70CC-27D00F826CE5}"/>
              </a:ext>
            </a:extLst>
          </p:cNvPr>
          <p:cNvSpPr/>
          <p:nvPr/>
        </p:nvSpPr>
        <p:spPr>
          <a:xfrm>
            <a:off x="4994785" y="1788796"/>
            <a:ext cx="2202430" cy="718184"/>
          </a:xfrm>
          <a:prstGeom prst="roundRect">
            <a:avLst/>
          </a:prstGeom>
          <a:solidFill>
            <a:srgbClr val="FFF0C1"/>
          </a:solidFill>
          <a:ln w="254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b="1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Wert</a:t>
            </a:r>
          </a:p>
        </p:txBody>
      </p:sp>
    </p:spTree>
    <p:extLst>
      <p:ext uri="{BB962C8B-B14F-4D97-AF65-F5344CB8AC3E}">
        <p14:creationId xmlns:p14="http://schemas.microsoft.com/office/powerpoint/2010/main" val="2648938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07420-C2B3-6187-E82D-DE4E8ABF4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Kontext modifizierende und Berechnungs-modifizierende Berechnungsgruppen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BFBBEA-BFB3-DA65-7469-648DC171DD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1825625"/>
            <a:ext cx="10853691" cy="4351338"/>
          </a:xfrm>
        </p:spPr>
        <p:txBody>
          <a:bodyPr vert="horz"/>
          <a:lstStyle/>
          <a:p>
            <a:r>
              <a:rPr lang="de-DE" noProof="0" dirty="0"/>
              <a:t>Kontext modifizierende Berechnungsgruppen</a:t>
            </a:r>
          </a:p>
          <a:p>
            <a:pPr lvl="1"/>
            <a:r>
              <a:rPr lang="de-DE" noProof="0" dirty="0"/>
              <a:t>Wählen die Kategorie-Werte aus</a:t>
            </a:r>
          </a:p>
          <a:p>
            <a:pPr lvl="1"/>
            <a:r>
              <a:rPr lang="de-DE" noProof="0" dirty="0"/>
              <a:t>Schränken die Berechnungen auf die ausgewählten </a:t>
            </a:r>
            <a:r>
              <a:rPr lang="de-DE" noProof="0" dirty="0" err="1"/>
              <a:t>Kategoriewerte</a:t>
            </a:r>
            <a:r>
              <a:rPr lang="de-DE" noProof="0" dirty="0"/>
              <a:t> ein</a:t>
            </a:r>
          </a:p>
          <a:p>
            <a:pPr lvl="1"/>
            <a:r>
              <a:rPr lang="de-DE" noProof="0" dirty="0"/>
              <a:t>Berechnen BLANK() für nicht ausgewählte Kategorien+</a:t>
            </a:r>
          </a:p>
          <a:p>
            <a:pPr lvl="1"/>
            <a:r>
              <a:rPr lang="de-DE" noProof="0" dirty="0"/>
              <a:t>Dynamisch: Kategorie-Werte werden nach </a:t>
            </a:r>
            <a:r>
              <a:rPr lang="de-DE" noProof="0" dirty="0" err="1"/>
              <a:t>Measure</a:t>
            </a:r>
            <a:r>
              <a:rPr lang="de-DE" noProof="0" dirty="0"/>
              <a:t>-Werten eingeschlossen</a:t>
            </a:r>
          </a:p>
          <a:p>
            <a:pPr marL="0" indent="0">
              <a:buNone/>
            </a:pPr>
            <a:r>
              <a:rPr lang="de-DE" noProof="0" dirty="0"/>
              <a:t> </a:t>
            </a:r>
          </a:p>
          <a:p>
            <a:r>
              <a:rPr lang="de-DE" noProof="0" dirty="0"/>
              <a:t>Berechnungsmodifizierende Berechnungsgruppen</a:t>
            </a:r>
          </a:p>
          <a:p>
            <a:pPr lvl="1"/>
            <a:r>
              <a:rPr lang="de-DE" noProof="0" dirty="0"/>
              <a:t>Ändern die Berechnung von Zahlenwerten</a:t>
            </a:r>
          </a:p>
          <a:p>
            <a:pPr lvl="1"/>
            <a:r>
              <a:rPr lang="de-DE" noProof="0" dirty="0"/>
              <a:t>Abweichungen, Entwicklungen, Kumulierung </a:t>
            </a:r>
          </a:p>
        </p:txBody>
      </p:sp>
    </p:spTree>
    <p:extLst>
      <p:ext uri="{BB962C8B-B14F-4D97-AF65-F5344CB8AC3E}">
        <p14:creationId xmlns:p14="http://schemas.microsoft.com/office/powerpoint/2010/main" val="3448924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8FC7E-FC6C-12BB-F7A7-5CF6486DD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Kontext</a:t>
            </a:r>
            <a:r>
              <a:rPr lang="en-GB" dirty="0"/>
              <a:t> </a:t>
            </a:r>
            <a:r>
              <a:rPr lang="en-GB" dirty="0" err="1"/>
              <a:t>modifizierende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 err="1"/>
              <a:t>Berechnungsgruppen</a:t>
            </a:r>
            <a:endParaRPr lang="en-DE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4F9806-F86E-B410-7596-8C54D15C8D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horz">
            <a:normAutofit/>
          </a:bodyPr>
          <a:lstStyle/>
          <a:p>
            <a:pPr marL="985838" indent="-985838">
              <a:buNone/>
            </a:pPr>
            <a:r>
              <a:rPr lang="en-GB" sz="2400" dirty="0"/>
              <a:t>Für rein Measure-Wert </a:t>
            </a:r>
            <a:r>
              <a:rPr lang="en-GB" sz="2400" dirty="0" err="1"/>
              <a:t>basiertes</a:t>
            </a:r>
            <a:r>
              <a:rPr lang="en-GB" sz="2400" dirty="0"/>
              <a:t> </a:t>
            </a:r>
            <a:r>
              <a:rPr lang="en-GB" sz="2400" dirty="0" err="1"/>
              <a:t>Kriterium</a:t>
            </a:r>
            <a:r>
              <a:rPr lang="en-GB" sz="2400" dirty="0"/>
              <a:t>:</a:t>
            </a:r>
          </a:p>
          <a:p>
            <a:pPr marL="985838" indent="-985838">
              <a:buNone/>
            </a:pPr>
            <a:r>
              <a:rPr lang="en-GB" sz="1800" dirty="0"/>
              <a:t>Schritt 1: Measure für </a:t>
            </a:r>
            <a:r>
              <a:rPr lang="en-GB" sz="1800" dirty="0" err="1"/>
              <a:t>Anzeige</a:t>
            </a:r>
            <a:r>
              <a:rPr lang="en-GB" sz="1800" dirty="0"/>
              <a:t> </a:t>
            </a:r>
            <a:r>
              <a:rPr lang="en-GB" sz="1800" dirty="0" err="1"/>
              <a:t>implementieren</a:t>
            </a:r>
            <a:r>
              <a:rPr lang="en-GB" sz="1800" dirty="0"/>
              <a:t>, falls </a:t>
            </a:r>
            <a:r>
              <a:rPr lang="en-GB" sz="1800" dirty="0" err="1"/>
              <a:t>noch</a:t>
            </a:r>
            <a:r>
              <a:rPr lang="en-GB" sz="1800" dirty="0"/>
              <a:t> nicht </a:t>
            </a:r>
            <a:r>
              <a:rPr lang="en-GB" sz="1800" dirty="0" err="1"/>
              <a:t>vorhanden</a:t>
            </a:r>
            <a:endParaRPr lang="en-GB" sz="1800" dirty="0"/>
          </a:p>
          <a:p>
            <a:pPr marL="985838" indent="-985838">
              <a:buNone/>
            </a:pPr>
            <a:r>
              <a:rPr lang="en-GB" sz="1800" dirty="0"/>
              <a:t>Schritt 2: Measure für </a:t>
            </a:r>
            <a:r>
              <a:rPr lang="en-GB" sz="1800" dirty="0" err="1"/>
              <a:t>Kriterium</a:t>
            </a:r>
            <a:r>
              <a:rPr lang="en-GB" sz="1800" dirty="0"/>
              <a:t> </a:t>
            </a:r>
            <a:r>
              <a:rPr lang="en-GB" sz="1800" dirty="0" err="1"/>
              <a:t>implementieren</a:t>
            </a:r>
            <a:r>
              <a:rPr lang="en-GB" sz="1800" dirty="0"/>
              <a:t>, falls </a:t>
            </a:r>
            <a:r>
              <a:rPr lang="en-GB" sz="1800" dirty="0" err="1"/>
              <a:t>noch</a:t>
            </a:r>
            <a:r>
              <a:rPr lang="en-GB" sz="1800" dirty="0"/>
              <a:t> nicht </a:t>
            </a:r>
            <a:r>
              <a:rPr lang="en-GB" sz="1800" dirty="0" err="1"/>
              <a:t>vorhanden</a:t>
            </a:r>
            <a:endParaRPr lang="en-GB" sz="1800" dirty="0"/>
          </a:p>
          <a:p>
            <a:pPr marL="985838" indent="-985838">
              <a:buNone/>
            </a:pPr>
            <a:r>
              <a:rPr lang="en-GB" sz="1800" dirty="0"/>
              <a:t>Schritt 3: Calculation Item </a:t>
            </a:r>
            <a:r>
              <a:rPr lang="en-GB" sz="1800" dirty="0" err="1"/>
              <a:t>anlegen</a:t>
            </a:r>
            <a:endParaRPr lang="en-GB" sz="1800" dirty="0"/>
          </a:p>
          <a:p>
            <a:pPr marL="985838" indent="-985838">
              <a:buNone/>
            </a:pPr>
            <a:r>
              <a:rPr lang="en-GB" sz="1800" dirty="0"/>
              <a:t>Schritt 4: VALUES  </a:t>
            </a:r>
            <a:r>
              <a:rPr lang="en-GB" sz="1800" dirty="0" err="1"/>
              <a:t>oder</a:t>
            </a:r>
            <a:r>
              <a:rPr lang="en-GB" sz="1800" dirty="0"/>
              <a:t> SUMMARIZE von </a:t>
            </a:r>
            <a:r>
              <a:rPr lang="en-GB" sz="1800" dirty="0" err="1"/>
              <a:t>gewünschtem</a:t>
            </a:r>
            <a:r>
              <a:rPr lang="en-GB" sz="1800" dirty="0"/>
              <a:t> </a:t>
            </a:r>
            <a:r>
              <a:rPr lang="en-GB" sz="1800" dirty="0" err="1"/>
              <a:t>Kontext</a:t>
            </a:r>
            <a:r>
              <a:rPr lang="en-GB" sz="1800" dirty="0"/>
              <a:t> </a:t>
            </a:r>
            <a:r>
              <a:rPr lang="en-GB" sz="1800" dirty="0" err="1"/>
              <a:t>einer</a:t>
            </a:r>
            <a:r>
              <a:rPr lang="en-GB" sz="1800" dirty="0"/>
              <a:t> </a:t>
            </a:r>
            <a:r>
              <a:rPr lang="en-GB" sz="1800" dirty="0" err="1"/>
              <a:t>Variablen</a:t>
            </a:r>
            <a:r>
              <a:rPr lang="en-GB" sz="1800" dirty="0"/>
              <a:t> </a:t>
            </a:r>
            <a:r>
              <a:rPr lang="en-GB" sz="1800" dirty="0" err="1"/>
              <a:t>zuweisen</a:t>
            </a:r>
            <a:endParaRPr lang="en-GB" sz="1800" dirty="0"/>
          </a:p>
          <a:p>
            <a:pPr marL="985838" indent="-985838">
              <a:buNone/>
            </a:pPr>
            <a:r>
              <a:rPr lang="en-GB" sz="1800" dirty="0"/>
              <a:t>Schritt 5: VALUES </a:t>
            </a:r>
            <a:r>
              <a:rPr lang="en-GB" sz="1800" dirty="0" err="1"/>
              <a:t>oder</a:t>
            </a:r>
            <a:r>
              <a:rPr lang="en-GB" sz="1800" dirty="0"/>
              <a:t> SUMMARIZE in CALCULATETABLE </a:t>
            </a:r>
            <a:r>
              <a:rPr lang="en-GB" sz="1800" dirty="0" err="1"/>
              <a:t>stecken</a:t>
            </a:r>
            <a:endParaRPr lang="en-GB" sz="1800" dirty="0"/>
          </a:p>
          <a:p>
            <a:pPr marL="985838" indent="-985838">
              <a:buNone/>
            </a:pPr>
            <a:r>
              <a:rPr lang="en-GB" sz="1800" dirty="0"/>
              <a:t>Schritt 6: Filter auf die </a:t>
            </a:r>
            <a:r>
              <a:rPr lang="en-GB" sz="1800" dirty="0" err="1"/>
              <a:t>Kontextspalte</a:t>
            </a:r>
            <a:r>
              <a:rPr lang="en-GB" sz="1800" dirty="0"/>
              <a:t> und </a:t>
            </a:r>
            <a:r>
              <a:rPr lang="en-GB" sz="1800" dirty="0" err="1"/>
              <a:t>ggf</a:t>
            </a:r>
            <a:r>
              <a:rPr lang="en-GB" sz="1800" dirty="0"/>
              <a:t>. </a:t>
            </a:r>
            <a:r>
              <a:rPr lang="en-GB" sz="1800" dirty="0" err="1"/>
              <a:t>weitere</a:t>
            </a:r>
            <a:r>
              <a:rPr lang="en-GB" sz="1800" dirty="0"/>
              <a:t> (</a:t>
            </a:r>
            <a:r>
              <a:rPr lang="en-GB" sz="1800" dirty="0" err="1"/>
              <a:t>synonyme</a:t>
            </a:r>
            <a:r>
              <a:rPr lang="en-GB" sz="1800" dirty="0"/>
              <a:t>) </a:t>
            </a:r>
            <a:r>
              <a:rPr lang="en-GB" sz="1800" dirty="0" err="1"/>
              <a:t>Spalten</a:t>
            </a:r>
            <a:r>
              <a:rPr lang="en-GB" sz="1800" dirty="0"/>
              <a:t> </a:t>
            </a:r>
            <a:r>
              <a:rPr lang="en-GB" sz="1800" dirty="0" err="1"/>
              <a:t>entfernen</a:t>
            </a:r>
            <a:r>
              <a:rPr lang="en-GB" sz="1800" dirty="0"/>
              <a:t> </a:t>
            </a:r>
            <a:r>
              <a:rPr lang="en-GB" sz="1800" dirty="0" err="1"/>
              <a:t>mit</a:t>
            </a:r>
            <a:r>
              <a:rPr lang="en-GB" sz="1800" dirty="0"/>
              <a:t> REMOVEFILTERS</a:t>
            </a:r>
          </a:p>
          <a:p>
            <a:pPr marL="985838" indent="-985838">
              <a:buNone/>
            </a:pPr>
            <a:r>
              <a:rPr lang="en-GB" sz="1800" dirty="0"/>
              <a:t>Schritt 7: VALUES </a:t>
            </a:r>
            <a:r>
              <a:rPr lang="en-GB" sz="1800" dirty="0" err="1"/>
              <a:t>mit</a:t>
            </a:r>
            <a:r>
              <a:rPr lang="en-GB" sz="1800" dirty="0"/>
              <a:t> ADDCOLUMNS um das </a:t>
            </a:r>
            <a:r>
              <a:rPr lang="en-GB" sz="1800" dirty="0" err="1"/>
              <a:t>Kriterium</a:t>
            </a:r>
            <a:r>
              <a:rPr lang="en-GB" sz="1800" dirty="0"/>
              <a:t> </a:t>
            </a:r>
            <a:r>
              <a:rPr lang="en-GB" sz="1800" dirty="0" err="1"/>
              <a:t>erweitern</a:t>
            </a:r>
            <a:r>
              <a:rPr lang="en-GB" sz="1800" dirty="0"/>
              <a:t>.</a:t>
            </a:r>
          </a:p>
          <a:p>
            <a:pPr marL="985838" indent="-985838">
              <a:buNone/>
            </a:pPr>
            <a:r>
              <a:rPr lang="en-GB" sz="1800" dirty="0"/>
              <a:t>Schritt 8: Filter auf </a:t>
            </a:r>
            <a:r>
              <a:rPr lang="en-GB" sz="1800" dirty="0" err="1"/>
              <a:t>Kriterienspalte</a:t>
            </a:r>
            <a:r>
              <a:rPr lang="en-GB" sz="1800" dirty="0"/>
              <a:t> </a:t>
            </a:r>
            <a:r>
              <a:rPr lang="en-GB" sz="1800" dirty="0" err="1"/>
              <a:t>gemäß</a:t>
            </a:r>
            <a:r>
              <a:rPr lang="en-GB" sz="1800" dirty="0"/>
              <a:t> </a:t>
            </a:r>
            <a:r>
              <a:rPr lang="en-GB" sz="1800" dirty="0" err="1"/>
              <a:t>Anforderungen</a:t>
            </a:r>
            <a:r>
              <a:rPr lang="en-GB" sz="1800" dirty="0"/>
              <a:t> </a:t>
            </a:r>
            <a:r>
              <a:rPr lang="en-GB" sz="1800" dirty="0" err="1"/>
              <a:t>setzen</a:t>
            </a:r>
            <a:r>
              <a:rPr lang="en-GB" sz="1800" dirty="0"/>
              <a:t> (FILTER </a:t>
            </a:r>
            <a:r>
              <a:rPr lang="en-GB" sz="1800" dirty="0" err="1"/>
              <a:t>oder</a:t>
            </a:r>
            <a:r>
              <a:rPr lang="en-GB" sz="1800" dirty="0"/>
              <a:t> TOPN).</a:t>
            </a:r>
          </a:p>
          <a:p>
            <a:pPr marL="985838" indent="-985838">
              <a:buNone/>
            </a:pPr>
            <a:r>
              <a:rPr lang="en-GB" sz="1800" dirty="0"/>
              <a:t>Schritt 9: SELECTEDMEASURE </a:t>
            </a:r>
            <a:r>
              <a:rPr lang="en-GB" sz="1800" dirty="0" err="1"/>
              <a:t>mit</a:t>
            </a:r>
            <a:r>
              <a:rPr lang="en-GB" sz="1800" dirty="0"/>
              <a:t> CALCULATE und KEEPFILTERS </a:t>
            </a:r>
            <a:r>
              <a:rPr lang="en-GB" sz="1800" dirty="0" err="1"/>
              <a:t>im</a:t>
            </a:r>
            <a:r>
              <a:rPr lang="en-GB" sz="1800" dirty="0"/>
              <a:t> </a:t>
            </a:r>
            <a:r>
              <a:rPr lang="en-GB" sz="1800" dirty="0" err="1"/>
              <a:t>Kontext</a:t>
            </a:r>
            <a:r>
              <a:rPr lang="en-GB" sz="1800" dirty="0"/>
              <a:t> der Values </a:t>
            </a:r>
            <a:r>
              <a:rPr lang="en-GB" sz="1800" dirty="0" err="1"/>
              <a:t>berechnen</a:t>
            </a:r>
            <a:r>
              <a:rPr lang="en-GB" sz="1800" dirty="0"/>
              <a:t>.</a:t>
            </a:r>
          </a:p>
          <a:p>
            <a:pPr marL="985838" indent="-985838">
              <a:buNone/>
            </a:pPr>
            <a:r>
              <a:rPr lang="en-GB" sz="2400" dirty="0" err="1"/>
              <a:t>Beispiel</a:t>
            </a:r>
            <a:r>
              <a:rPr lang="en-GB" sz="2400" dirty="0"/>
              <a:t>: Top 5 Kunden </a:t>
            </a:r>
            <a:r>
              <a:rPr lang="en-GB" sz="2400" dirty="0" err="1"/>
              <a:t>nach</a:t>
            </a:r>
            <a:r>
              <a:rPr lang="en-GB" sz="2400" dirty="0"/>
              <a:t> </a:t>
            </a:r>
            <a:r>
              <a:rPr lang="en-GB" sz="2400" dirty="0" err="1"/>
              <a:t>Umsatz</a:t>
            </a:r>
            <a:endParaRPr lang="en-DE" sz="2400" dirty="0"/>
          </a:p>
        </p:txBody>
      </p:sp>
    </p:spTree>
    <p:extLst>
      <p:ext uri="{BB962C8B-B14F-4D97-AF65-F5344CB8AC3E}">
        <p14:creationId xmlns:p14="http://schemas.microsoft.com/office/powerpoint/2010/main" val="2170959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A9036-8ED5-75F5-9948-77EB93D70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Berechnungsmodifizierende</a:t>
            </a:r>
            <a:r>
              <a:rPr lang="en-GB" dirty="0"/>
              <a:t> </a:t>
            </a:r>
            <a:r>
              <a:rPr lang="en-GB" dirty="0" err="1"/>
              <a:t>Berechnungsgruppen</a:t>
            </a:r>
            <a:endParaRPr lang="en-DE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9C467D-7CCE-60F4-241B-E2C742433D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1825625"/>
            <a:ext cx="10906957" cy="4949248"/>
          </a:xfrm>
        </p:spPr>
        <p:txBody>
          <a:bodyPr vert="horz"/>
          <a:lstStyle/>
          <a:p>
            <a:r>
              <a:rPr lang="de-DE" noProof="0" dirty="0"/>
              <a:t>Text-</a:t>
            </a:r>
            <a:r>
              <a:rPr lang="de-DE" noProof="0" dirty="0" err="1"/>
              <a:t>Measure</a:t>
            </a:r>
            <a:r>
              <a:rPr lang="de-DE" noProof="0" dirty="0"/>
              <a:t> mit ISNUMERIC() überspringen</a:t>
            </a:r>
          </a:p>
          <a:p>
            <a:pPr lvl="1"/>
            <a:r>
              <a:rPr lang="de-DE" noProof="0" dirty="0"/>
              <a:t>z.B. dynamische Titel oder Farben</a:t>
            </a:r>
          </a:p>
          <a:p>
            <a:r>
              <a:rPr lang="de-DE" noProof="0" dirty="0"/>
              <a:t>Format-String ggf. anpassen, z.B. bei Prozentwerten</a:t>
            </a:r>
          </a:p>
          <a:p>
            <a:pPr lvl="1"/>
            <a:r>
              <a:rPr lang="de-DE" noProof="0" dirty="0"/>
              <a:t>Ohne Format-String wird der des zugrunde liegenden Measures beibehalten</a:t>
            </a:r>
          </a:p>
          <a:p>
            <a:pPr lvl="1"/>
            <a:r>
              <a:rPr lang="de-DE" noProof="0" dirty="0"/>
              <a:t>Text-Measures ignorieren den Format-String der Berechnungsgruppe</a:t>
            </a:r>
          </a:p>
          <a:p>
            <a:pPr lvl="1"/>
            <a:r>
              <a:rPr lang="de-DE" dirty="0"/>
              <a:t>Ggf. dynamischen Format-String implementieren</a:t>
            </a:r>
            <a:endParaRPr lang="de-DE" noProof="0" dirty="0"/>
          </a:p>
          <a:p>
            <a:r>
              <a:rPr lang="de-DE" dirty="0"/>
              <a:t>Beispiele</a:t>
            </a:r>
          </a:p>
          <a:p>
            <a:pPr lvl="1"/>
            <a:r>
              <a:rPr lang="de-DE" noProof="0" dirty="0"/>
              <a:t>Abweichung zu Vorjahr</a:t>
            </a:r>
          </a:p>
          <a:p>
            <a:pPr lvl="1"/>
            <a:r>
              <a:rPr lang="de-DE" dirty="0"/>
              <a:t>Wachstumsrate</a:t>
            </a:r>
          </a:p>
          <a:p>
            <a:pPr lvl="1"/>
            <a:r>
              <a:rPr lang="de-DE" noProof="0" dirty="0"/>
              <a:t>Währungsumrechnung</a:t>
            </a:r>
          </a:p>
          <a:p>
            <a:pPr lvl="1"/>
            <a:r>
              <a:rPr lang="de-DE" dirty="0"/>
              <a:t>SVG-Grafik aus </a:t>
            </a:r>
            <a:r>
              <a:rPr lang="de-DE" dirty="0" err="1"/>
              <a:t>Measure</a:t>
            </a:r>
            <a:r>
              <a:rPr lang="de-DE" dirty="0"/>
              <a:t>-Wert erstellen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54071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FF0F7-E471-C2C3-CB7A-F9CCFCAE4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03093-AD83-81C2-9E48-C60BAE3E7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Rangfolge</a:t>
            </a:r>
            <a:r>
              <a:rPr lang="en-GB" dirty="0"/>
              <a:t> </a:t>
            </a:r>
            <a:r>
              <a:rPr lang="en-GB" dirty="0" err="1"/>
              <a:t>zwischen</a:t>
            </a:r>
            <a:r>
              <a:rPr lang="en-GB" dirty="0"/>
              <a:t> </a:t>
            </a:r>
            <a:r>
              <a:rPr lang="en-GB" dirty="0" err="1"/>
              <a:t>Berechnungsgruppen</a:t>
            </a:r>
            <a:endParaRPr lang="en-DE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852A88-41CC-ABB0-6462-096152A536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horz"/>
          <a:lstStyle/>
          <a:p>
            <a:endParaRPr lang="en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EE4500-24BE-D836-7946-FAFE5D95A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" y="2395838"/>
            <a:ext cx="2638793" cy="2314898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A35DC69-5C14-86BC-D4A2-D484F8D492D7}"/>
              </a:ext>
            </a:extLst>
          </p:cNvPr>
          <p:cNvGrpSpPr/>
          <p:nvPr/>
        </p:nvGrpSpPr>
        <p:grpSpPr>
          <a:xfrm>
            <a:off x="3442678" y="3208338"/>
            <a:ext cx="171450" cy="1066800"/>
            <a:chOff x="3812381" y="3208338"/>
            <a:chExt cx="171450" cy="106680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0DA75A38-9411-B6B3-E434-C68C93CBFA57}"/>
                </a:ext>
              </a:extLst>
            </p:cNvPr>
            <p:cNvSpPr/>
            <p:nvPr/>
          </p:nvSpPr>
          <p:spPr>
            <a:xfrm>
              <a:off x="3812381" y="3208338"/>
              <a:ext cx="171450" cy="171450"/>
            </a:xfrm>
            <a:prstGeom prst="ellipse">
              <a:avLst/>
            </a:prstGeom>
            <a:solidFill>
              <a:srgbClr val="FFF0C1"/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sz="2400" b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15E0138-81D5-26F9-BD0A-88EC32815449}"/>
                </a:ext>
              </a:extLst>
            </p:cNvPr>
            <p:cNvSpPr/>
            <p:nvPr/>
          </p:nvSpPr>
          <p:spPr>
            <a:xfrm>
              <a:off x="3812381" y="4103688"/>
              <a:ext cx="171450" cy="171450"/>
            </a:xfrm>
            <a:prstGeom prst="ellipse">
              <a:avLst/>
            </a:prstGeom>
            <a:solidFill>
              <a:srgbClr val="FFF0C1"/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sz="2400" b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17DDB2C-9AFE-43A9-E5F2-72DA355DE6B3}"/>
                </a:ext>
              </a:extLst>
            </p:cNvPr>
            <p:cNvCxnSpPr>
              <a:cxnSpLocks/>
              <a:stCxn id="9" idx="0"/>
              <a:endCxn id="4" idx="4"/>
            </p:cNvCxnSpPr>
            <p:nvPr/>
          </p:nvCxnSpPr>
          <p:spPr>
            <a:xfrm flipV="1">
              <a:off x="3898106" y="3379788"/>
              <a:ext cx="0" cy="723900"/>
            </a:xfrm>
            <a:prstGeom prst="straightConnector1">
              <a:avLst/>
            </a:prstGeom>
            <a:ln w="25400"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39F215F-0227-298A-C532-D208C07C8C01}"/>
              </a:ext>
            </a:extLst>
          </p:cNvPr>
          <p:cNvGrpSpPr/>
          <p:nvPr/>
        </p:nvGrpSpPr>
        <p:grpSpPr>
          <a:xfrm>
            <a:off x="5097586" y="3208338"/>
            <a:ext cx="171450" cy="1066800"/>
            <a:chOff x="3812381" y="3208338"/>
            <a:chExt cx="171450" cy="106680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CD3375C-3A98-F926-1D21-44271E2217E2}"/>
                </a:ext>
              </a:extLst>
            </p:cNvPr>
            <p:cNvSpPr/>
            <p:nvPr/>
          </p:nvSpPr>
          <p:spPr>
            <a:xfrm>
              <a:off x="3812381" y="3208338"/>
              <a:ext cx="171450" cy="171450"/>
            </a:xfrm>
            <a:prstGeom prst="ellipse">
              <a:avLst/>
            </a:prstGeom>
            <a:solidFill>
              <a:srgbClr val="FFF0C1"/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sz="2400" b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3396DCE-3C1B-51CF-D2C8-F9CEF3F9682A}"/>
                </a:ext>
              </a:extLst>
            </p:cNvPr>
            <p:cNvSpPr/>
            <p:nvPr/>
          </p:nvSpPr>
          <p:spPr>
            <a:xfrm>
              <a:off x="3812381" y="4103688"/>
              <a:ext cx="171450" cy="171450"/>
            </a:xfrm>
            <a:prstGeom prst="ellipse">
              <a:avLst/>
            </a:prstGeom>
            <a:solidFill>
              <a:srgbClr val="FFF0C1"/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sz="2400" b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6DC44522-EDAB-A746-BEAB-DE4B9FD19416}"/>
                </a:ext>
              </a:extLst>
            </p:cNvPr>
            <p:cNvCxnSpPr>
              <a:cxnSpLocks/>
              <a:stCxn id="19" idx="0"/>
              <a:endCxn id="18" idx="4"/>
            </p:cNvCxnSpPr>
            <p:nvPr/>
          </p:nvCxnSpPr>
          <p:spPr>
            <a:xfrm flipV="1">
              <a:off x="3898106" y="3379788"/>
              <a:ext cx="0" cy="723900"/>
            </a:xfrm>
            <a:prstGeom prst="straightConnector1">
              <a:avLst/>
            </a:prstGeom>
            <a:ln w="25400"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B0E47276-3E21-4F2E-4229-7C13F31CF258}"/>
              </a:ext>
            </a:extLst>
          </p:cNvPr>
          <p:cNvSpPr txBox="1"/>
          <p:nvPr/>
        </p:nvSpPr>
        <p:spPr>
          <a:xfrm>
            <a:off x="3572366" y="3313113"/>
            <a:ext cx="16182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Höherer</a:t>
            </a:r>
            <a:r>
              <a:rPr lang="en-GB" dirty="0"/>
              <a:t> Rang, </a:t>
            </a:r>
            <a:r>
              <a:rPr lang="en-GB" dirty="0" err="1"/>
              <a:t>äußeres</a:t>
            </a:r>
            <a:r>
              <a:rPr lang="en-GB" dirty="0"/>
              <a:t> CALCULATE()</a:t>
            </a:r>
            <a:endParaRPr lang="en-DE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8431B6-9111-ECCF-C8CF-1E1481961861}"/>
              </a:ext>
            </a:extLst>
          </p:cNvPr>
          <p:cNvSpPr txBox="1"/>
          <p:nvPr/>
        </p:nvSpPr>
        <p:spPr>
          <a:xfrm>
            <a:off x="5235087" y="2922359"/>
            <a:ext cx="289022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ptos Mono" panose="020B0009020202020204" pitchFamily="49" charset="0"/>
              </a:rPr>
              <a:t>DIVIDE (</a:t>
            </a:r>
            <a:br>
              <a:rPr lang="en-GB" sz="1400" dirty="0">
                <a:latin typeface="Aptos Mono" panose="020B0009020202020204" pitchFamily="49" charset="0"/>
              </a:rPr>
            </a:br>
            <a:r>
              <a:rPr lang="en-GB" sz="1400" dirty="0">
                <a:latin typeface="Aptos Mono" panose="020B0009020202020204" pitchFamily="49" charset="0"/>
              </a:rPr>
              <a:t>  CALCULATE (</a:t>
            </a:r>
          </a:p>
          <a:p>
            <a:r>
              <a:rPr lang="en-GB" sz="1400" dirty="0">
                <a:latin typeface="Aptos Mono" panose="020B0009020202020204" pitchFamily="49" charset="0"/>
              </a:rPr>
              <a:t>    SELECTEDMEASURE ()</a:t>
            </a:r>
          </a:p>
          <a:p>
            <a:r>
              <a:rPr lang="en-GB" sz="1400" dirty="0">
                <a:latin typeface="Aptos Mono" panose="020B0009020202020204" pitchFamily="49" charset="0"/>
              </a:rPr>
              <a:t>  ),</a:t>
            </a:r>
          </a:p>
          <a:p>
            <a:r>
              <a:rPr lang="en-GB" sz="1400" dirty="0">
                <a:latin typeface="Aptos Mono" panose="020B0009020202020204" pitchFamily="49" charset="0"/>
              </a:rPr>
              <a:t>  CALCULATE (</a:t>
            </a:r>
          </a:p>
          <a:p>
            <a:r>
              <a:rPr lang="en-GB" sz="1400" dirty="0">
                <a:latin typeface="Aptos Mono" panose="020B0009020202020204" pitchFamily="49" charset="0"/>
              </a:rPr>
              <a:t>    SELECTEDMEASURE (),</a:t>
            </a:r>
          </a:p>
          <a:p>
            <a:r>
              <a:rPr lang="en-GB" sz="1400" dirty="0">
                <a:latin typeface="Aptos Mono" panose="020B0009020202020204" pitchFamily="49" charset="0"/>
              </a:rPr>
              <a:t>    SAMPERIODLASTYEAR (…)</a:t>
            </a:r>
          </a:p>
          <a:p>
            <a:r>
              <a:rPr lang="en-GB" sz="1400" dirty="0">
                <a:latin typeface="Aptos Mono" panose="020B0009020202020204" pitchFamily="49" charset="0"/>
              </a:rPr>
              <a:t>  )</a:t>
            </a:r>
            <a:br>
              <a:rPr lang="en-GB" sz="1400" dirty="0">
                <a:latin typeface="Aptos Mono" panose="020B0009020202020204" pitchFamily="49" charset="0"/>
              </a:rPr>
            </a:br>
            <a:r>
              <a:rPr lang="en-GB" sz="1400" dirty="0">
                <a:latin typeface="Aptos Mono" panose="020B0009020202020204" pitchFamily="49" charset="0"/>
              </a:rPr>
              <a:t>)</a:t>
            </a:r>
          </a:p>
          <a:p>
            <a:endParaRPr lang="en-DE" sz="1400" dirty="0">
              <a:latin typeface="Aptos Mono" panose="020B00090202020202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C32F63-85E7-0719-0A64-7BCFBE4D0D31}"/>
              </a:ext>
            </a:extLst>
          </p:cNvPr>
          <p:cNvSpPr txBox="1"/>
          <p:nvPr/>
        </p:nvSpPr>
        <p:spPr>
          <a:xfrm>
            <a:off x="8351352" y="3347148"/>
            <a:ext cx="24832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ptos Mono" panose="020B0009020202020204" pitchFamily="49" charset="0"/>
              </a:rPr>
              <a:t>CALCULATE (</a:t>
            </a:r>
          </a:p>
          <a:p>
            <a:r>
              <a:rPr lang="en-GB" sz="1400" dirty="0">
                <a:latin typeface="Aptos Mono" panose="020B0009020202020204" pitchFamily="49" charset="0"/>
              </a:rPr>
              <a:t>  SELECTEDMEASURE (),</a:t>
            </a:r>
            <a:br>
              <a:rPr lang="en-GB" sz="1400" dirty="0">
                <a:latin typeface="Aptos Mono" panose="020B0009020202020204" pitchFamily="49" charset="0"/>
              </a:rPr>
            </a:br>
            <a:r>
              <a:rPr lang="en-GB" sz="1400" dirty="0">
                <a:latin typeface="Aptos Mono" panose="020B0009020202020204" pitchFamily="49" charset="0"/>
              </a:rPr>
              <a:t>  TOPN (…)</a:t>
            </a:r>
          </a:p>
          <a:p>
            <a:r>
              <a:rPr lang="en-GB" sz="1400" dirty="0">
                <a:latin typeface="Aptos Mono" panose="020B0009020202020204" pitchFamily="49" charset="0"/>
              </a:rPr>
              <a:t>)</a:t>
            </a:r>
            <a:endParaRPr lang="en-DE" sz="1400" dirty="0">
              <a:latin typeface="Aptos Mono" panose="020B0009020202020204" pitchFamily="49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7DDAC7C-2A68-620B-D33A-5FD1A38EC771}"/>
              </a:ext>
            </a:extLst>
          </p:cNvPr>
          <p:cNvCxnSpPr>
            <a:cxnSpLocks/>
          </p:cNvCxnSpPr>
          <p:nvPr/>
        </p:nvCxnSpPr>
        <p:spPr>
          <a:xfrm>
            <a:off x="7668113" y="3503442"/>
            <a:ext cx="745148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C2FFC558-B191-DD78-931F-D89ECA3D1C63}"/>
              </a:ext>
            </a:extLst>
          </p:cNvPr>
          <p:cNvCxnSpPr>
            <a:cxnSpLocks/>
          </p:cNvCxnSpPr>
          <p:nvPr/>
        </p:nvCxnSpPr>
        <p:spPr>
          <a:xfrm flipV="1">
            <a:off x="7750908" y="3503442"/>
            <a:ext cx="662353" cy="631995"/>
          </a:xfrm>
          <a:prstGeom prst="bentConnector3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9903BAA-8DEA-860A-DF59-5F61F10C66BE}"/>
              </a:ext>
            </a:extLst>
          </p:cNvPr>
          <p:cNvCxnSpPr>
            <a:cxnSpLocks/>
          </p:cNvCxnSpPr>
          <p:nvPr/>
        </p:nvCxnSpPr>
        <p:spPr>
          <a:xfrm>
            <a:off x="10658963" y="3706642"/>
            <a:ext cx="294787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5339ED7F-22DC-00D3-BA9E-BC7A0C160A97}"/>
              </a:ext>
            </a:extLst>
          </p:cNvPr>
          <p:cNvSpPr txBox="1"/>
          <p:nvPr/>
        </p:nvSpPr>
        <p:spPr>
          <a:xfrm>
            <a:off x="10888783" y="3556376"/>
            <a:ext cx="956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ptos Mono" panose="020B0009020202020204" pitchFamily="49" charset="0"/>
              </a:rPr>
              <a:t>[Sales]</a:t>
            </a:r>
            <a:endParaRPr lang="en-DE" sz="1400" dirty="0">
              <a:latin typeface="Aptos Mono" panose="020B0009020202020204" pitchFamily="49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507BC39-5355-9116-E61C-8390BF3C1C06}"/>
              </a:ext>
            </a:extLst>
          </p:cNvPr>
          <p:cNvSpPr txBox="1"/>
          <p:nvPr/>
        </p:nvSpPr>
        <p:spPr>
          <a:xfrm>
            <a:off x="5235088" y="2498651"/>
            <a:ext cx="161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Abweichung</a:t>
            </a:r>
            <a:endParaRPr lang="en-DE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BF385D6-49A0-BCE6-4675-4649786B652E}"/>
              </a:ext>
            </a:extLst>
          </p:cNvPr>
          <p:cNvSpPr txBox="1"/>
          <p:nvPr/>
        </p:nvSpPr>
        <p:spPr>
          <a:xfrm>
            <a:off x="8338652" y="2230255"/>
            <a:ext cx="1776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Dynamische</a:t>
            </a:r>
            <a:r>
              <a:rPr lang="en-GB" dirty="0"/>
              <a:t> </a:t>
            </a:r>
            <a:r>
              <a:rPr lang="en-GB" dirty="0" err="1"/>
              <a:t>Kundenauswahl</a:t>
            </a:r>
            <a:endParaRPr lang="en-DE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115B4A7-4CFD-4CE9-3AFC-9777E7557D29}"/>
              </a:ext>
            </a:extLst>
          </p:cNvPr>
          <p:cNvCxnSpPr>
            <a:cxnSpLocks/>
          </p:cNvCxnSpPr>
          <p:nvPr/>
        </p:nvCxnSpPr>
        <p:spPr>
          <a:xfrm>
            <a:off x="5321300" y="2813050"/>
            <a:ext cx="234681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A60B9B6-AA51-08E1-EC5D-135F5677B1AC}"/>
              </a:ext>
            </a:extLst>
          </p:cNvPr>
          <p:cNvCxnSpPr>
            <a:cxnSpLocks/>
          </p:cNvCxnSpPr>
          <p:nvPr/>
        </p:nvCxnSpPr>
        <p:spPr>
          <a:xfrm>
            <a:off x="8441793" y="2813050"/>
            <a:ext cx="215635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2638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A235A-5802-C6C9-E9AA-BB0F08F82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Berechnungsgruppen</a:t>
            </a:r>
            <a:r>
              <a:rPr lang="en-GB" dirty="0"/>
              <a:t> und </a:t>
            </a:r>
            <a:br>
              <a:rPr lang="en-GB" dirty="0"/>
            </a:br>
            <a:r>
              <a:rPr lang="en-GB" dirty="0" err="1"/>
              <a:t>benutzerdefinierte</a:t>
            </a:r>
            <a:r>
              <a:rPr lang="en-GB" dirty="0"/>
              <a:t> DAX-</a:t>
            </a:r>
            <a:r>
              <a:rPr lang="en-GB" dirty="0" err="1"/>
              <a:t>Funktionen</a:t>
            </a:r>
            <a:endParaRPr lang="en-DE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0511D7-3BD0-CBDA-4DD7-1300565128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horz"/>
          <a:lstStyle/>
          <a:p>
            <a:r>
              <a:rPr lang="en-GB" dirty="0" err="1"/>
              <a:t>Wiederholten</a:t>
            </a:r>
            <a:r>
              <a:rPr lang="en-GB" dirty="0"/>
              <a:t> Code </a:t>
            </a:r>
            <a:r>
              <a:rPr lang="en-GB" dirty="0" err="1"/>
              <a:t>als</a:t>
            </a:r>
            <a:r>
              <a:rPr lang="en-GB" dirty="0"/>
              <a:t> </a:t>
            </a:r>
            <a:r>
              <a:rPr lang="en-GB" dirty="0" err="1"/>
              <a:t>Funktion</a:t>
            </a:r>
            <a:r>
              <a:rPr lang="en-GB" dirty="0"/>
              <a:t> </a:t>
            </a:r>
            <a:r>
              <a:rPr lang="en-GB" dirty="0" err="1"/>
              <a:t>auslagern</a:t>
            </a:r>
            <a:endParaRPr lang="en-GB" dirty="0"/>
          </a:p>
          <a:p>
            <a:r>
              <a:rPr lang="en-GB" dirty="0" err="1"/>
              <a:t>Besonders</a:t>
            </a:r>
            <a:r>
              <a:rPr lang="en-GB" dirty="0"/>
              <a:t> </a:t>
            </a:r>
            <a:r>
              <a:rPr lang="en-GB" dirty="0" err="1"/>
              <a:t>geeignet</a:t>
            </a:r>
            <a:r>
              <a:rPr lang="en-GB" dirty="0"/>
              <a:t>, </a:t>
            </a:r>
            <a:r>
              <a:rPr lang="en-GB" dirty="0" err="1"/>
              <a:t>wenn</a:t>
            </a:r>
            <a:r>
              <a:rPr lang="en-GB" dirty="0"/>
              <a:t> </a:t>
            </a:r>
            <a:r>
              <a:rPr lang="en-GB" dirty="0" err="1"/>
              <a:t>eine</a:t>
            </a:r>
            <a:r>
              <a:rPr lang="en-GB" dirty="0"/>
              <a:t> Art der </a:t>
            </a:r>
            <a:r>
              <a:rPr lang="en-GB" dirty="0" err="1"/>
              <a:t>Berechnung</a:t>
            </a:r>
            <a:r>
              <a:rPr lang="en-GB" dirty="0"/>
              <a:t> für </a:t>
            </a:r>
            <a:r>
              <a:rPr lang="en-GB" dirty="0" err="1"/>
              <a:t>verschiedene</a:t>
            </a:r>
            <a:r>
              <a:rPr lang="en-GB" dirty="0"/>
              <a:t> </a:t>
            </a:r>
            <a:r>
              <a:rPr lang="en-GB" dirty="0" err="1"/>
              <a:t>Kategorien</a:t>
            </a:r>
            <a:r>
              <a:rPr lang="en-GB" dirty="0"/>
              <a:t> </a:t>
            </a:r>
            <a:r>
              <a:rPr lang="en-GB" dirty="0" err="1"/>
              <a:t>bzw</a:t>
            </a:r>
            <a:r>
              <a:rPr lang="en-GB" dirty="0"/>
              <a:t>. </a:t>
            </a:r>
            <a:r>
              <a:rPr lang="en-GB" dirty="0" err="1"/>
              <a:t>Spalten</a:t>
            </a:r>
            <a:r>
              <a:rPr lang="en-GB" dirty="0"/>
              <a:t> </a:t>
            </a:r>
            <a:r>
              <a:rPr lang="en-GB" dirty="0" err="1"/>
              <a:t>angeboten</a:t>
            </a:r>
            <a:r>
              <a:rPr lang="en-GB" dirty="0"/>
              <a:t> </a:t>
            </a:r>
            <a:r>
              <a:rPr lang="en-GB" dirty="0" err="1"/>
              <a:t>werden</a:t>
            </a:r>
            <a:r>
              <a:rPr lang="en-GB" dirty="0"/>
              <a:t> </a:t>
            </a:r>
            <a:r>
              <a:rPr lang="en-GB" dirty="0" err="1"/>
              <a:t>soll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→ </a:t>
            </a:r>
            <a:r>
              <a:rPr lang="en-GB" dirty="0" err="1"/>
              <a:t>mit</a:t>
            </a:r>
            <a:r>
              <a:rPr lang="en-GB" dirty="0"/>
              <a:t> </a:t>
            </a:r>
            <a:r>
              <a:rPr lang="en-GB" dirty="0" err="1"/>
              <a:t>gleicher</a:t>
            </a:r>
            <a:r>
              <a:rPr lang="en-GB" dirty="0"/>
              <a:t> </a:t>
            </a:r>
            <a:r>
              <a:rPr lang="en-GB" dirty="0" err="1"/>
              <a:t>Funktion</a:t>
            </a:r>
            <a:r>
              <a:rPr lang="en-GB" dirty="0"/>
              <a:t> </a:t>
            </a:r>
            <a:r>
              <a:rPr lang="en-GB" dirty="0" err="1"/>
              <a:t>mehrere</a:t>
            </a:r>
            <a:r>
              <a:rPr lang="en-GB" dirty="0"/>
              <a:t> </a:t>
            </a:r>
            <a:r>
              <a:rPr lang="en-GB" dirty="0" err="1"/>
              <a:t>Berechungselemente</a:t>
            </a:r>
            <a:r>
              <a:rPr lang="en-GB" dirty="0"/>
              <a:t> </a:t>
            </a:r>
            <a:r>
              <a:rPr lang="en-GB" dirty="0" err="1"/>
              <a:t>anlegen</a:t>
            </a:r>
            <a:endParaRPr lang="en-GB" dirty="0"/>
          </a:p>
          <a:p>
            <a:r>
              <a:rPr lang="en-GB" dirty="0" err="1"/>
              <a:t>Im</a:t>
            </a:r>
            <a:r>
              <a:rPr lang="en-GB" dirty="0"/>
              <a:t> Visual </a:t>
            </a:r>
            <a:r>
              <a:rPr lang="en-GB" dirty="0" err="1"/>
              <a:t>mit</a:t>
            </a:r>
            <a:r>
              <a:rPr lang="en-GB" dirty="0"/>
              <a:t> </a:t>
            </a:r>
            <a:r>
              <a:rPr lang="en-GB" dirty="0" err="1"/>
              <a:t>verschiedenen</a:t>
            </a:r>
            <a:r>
              <a:rPr lang="en-GB" dirty="0"/>
              <a:t> Measures </a:t>
            </a:r>
            <a:r>
              <a:rPr lang="en-GB" dirty="0" err="1"/>
              <a:t>verwenden</a:t>
            </a:r>
            <a:r>
              <a:rPr lang="en-GB" dirty="0"/>
              <a:t>: </a:t>
            </a:r>
            <a:br>
              <a:rPr lang="en-GB" dirty="0"/>
            </a:br>
            <a:r>
              <a:rPr lang="en-GB" dirty="0"/>
              <a:t>→ </a:t>
            </a:r>
            <a:r>
              <a:rPr lang="en-GB" dirty="0" err="1"/>
              <a:t>Berechnungsgruppe</a:t>
            </a:r>
            <a:endParaRPr lang="en-GB" dirty="0"/>
          </a:p>
          <a:p>
            <a:r>
              <a:rPr lang="en-GB" dirty="0" err="1"/>
              <a:t>Wiederholten</a:t>
            </a:r>
            <a:r>
              <a:rPr lang="en-GB" dirty="0"/>
              <a:t> DAX-Code </a:t>
            </a:r>
            <a:r>
              <a:rPr lang="en-GB" dirty="0" err="1"/>
              <a:t>vermeiden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→ </a:t>
            </a:r>
            <a:r>
              <a:rPr lang="en-GB" dirty="0" err="1"/>
              <a:t>benutzdefinierte</a:t>
            </a:r>
            <a:r>
              <a:rPr lang="en-GB" dirty="0"/>
              <a:t> </a:t>
            </a:r>
            <a:r>
              <a:rPr lang="en-GB" dirty="0" err="1"/>
              <a:t>Funktion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135236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B6D70-FE4C-60E4-6F2B-BC4C79349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Datumstabelle</a:t>
            </a:r>
            <a:r>
              <a:rPr lang="en-GB" dirty="0"/>
              <a:t> revisited: </a:t>
            </a:r>
            <a:br>
              <a:rPr lang="en-GB" dirty="0"/>
            </a:br>
            <a:r>
              <a:rPr lang="en-GB" dirty="0"/>
              <a:t>Die Power des Format-Strings</a:t>
            </a:r>
            <a:endParaRPr lang="en-DE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BE6645-F9B8-81AB-9FAF-4FA5E7DD0D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5032375"/>
          </a:xfrm>
        </p:spPr>
        <p:txBody>
          <a:bodyPr vert="horz"/>
          <a:lstStyle/>
          <a:p>
            <a:r>
              <a:rPr lang="en-GB" dirty="0" err="1"/>
              <a:t>Formatierte</a:t>
            </a:r>
            <a:r>
              <a:rPr lang="en-GB" dirty="0"/>
              <a:t> </a:t>
            </a:r>
            <a:r>
              <a:rPr lang="en-GB" dirty="0" err="1"/>
              <a:t>Datumswerte</a:t>
            </a:r>
            <a:r>
              <a:rPr lang="en-GB" dirty="0"/>
              <a:t> </a:t>
            </a:r>
            <a:r>
              <a:rPr lang="en-GB" dirty="0" err="1"/>
              <a:t>statt</a:t>
            </a:r>
            <a:r>
              <a:rPr lang="en-GB" dirty="0"/>
              <a:t> Zahlen </a:t>
            </a:r>
            <a:r>
              <a:rPr lang="en-GB" dirty="0" err="1"/>
              <a:t>oder</a:t>
            </a:r>
            <a:r>
              <a:rPr lang="en-GB" dirty="0"/>
              <a:t> Namen, </a:t>
            </a:r>
            <a:r>
              <a:rPr lang="en-GB" dirty="0" err="1"/>
              <a:t>z.B.</a:t>
            </a:r>
            <a:r>
              <a:rPr lang="en-GB" dirty="0"/>
              <a:t> für Monat</a:t>
            </a:r>
          </a:p>
          <a:p>
            <a:r>
              <a:rPr lang="en-GB" dirty="0" err="1"/>
              <a:t>Monatsanfang</a:t>
            </a:r>
            <a:r>
              <a:rPr lang="en-GB" dirty="0"/>
              <a:t> </a:t>
            </a:r>
            <a:r>
              <a:rPr lang="en-GB" dirty="0" err="1"/>
              <a:t>statt</a:t>
            </a:r>
            <a:r>
              <a:rPr lang="en-GB" dirty="0"/>
              <a:t> </a:t>
            </a:r>
            <a:r>
              <a:rPr lang="en-GB" dirty="0" err="1"/>
              <a:t>Monatsname</a:t>
            </a:r>
            <a:endParaRPr lang="en-GB" dirty="0"/>
          </a:p>
          <a:p>
            <a:r>
              <a:rPr lang="en-GB" dirty="0"/>
              <a:t>Donnerstag </a:t>
            </a:r>
            <a:r>
              <a:rPr lang="en-GB" dirty="0" err="1"/>
              <a:t>statt</a:t>
            </a:r>
            <a:r>
              <a:rPr lang="en-GB" dirty="0"/>
              <a:t> </a:t>
            </a:r>
            <a:r>
              <a:rPr lang="en-GB" dirty="0" err="1"/>
              <a:t>Kalenderwoche</a:t>
            </a:r>
            <a:endParaRPr lang="en-GB" dirty="0"/>
          </a:p>
          <a:p>
            <a:r>
              <a:rPr lang="en-GB" dirty="0"/>
              <a:t>Für </a:t>
            </a:r>
            <a:r>
              <a:rPr lang="en-GB" dirty="0" err="1"/>
              <a:t>Saisonalität</a:t>
            </a:r>
            <a:r>
              <a:rPr lang="en-GB" dirty="0"/>
              <a:t> immer </a:t>
            </a:r>
            <a:r>
              <a:rPr lang="en-GB" dirty="0" err="1"/>
              <a:t>gleiches</a:t>
            </a:r>
            <a:r>
              <a:rPr lang="en-GB" dirty="0"/>
              <a:t> Jahr/</a:t>
            </a:r>
            <a:r>
              <a:rPr lang="en-GB" dirty="0" err="1"/>
              <a:t>gleiche</a:t>
            </a:r>
            <a:r>
              <a:rPr lang="en-GB" dirty="0"/>
              <a:t> </a:t>
            </a:r>
            <a:r>
              <a:rPr lang="en-GB" dirty="0" err="1"/>
              <a:t>Woche</a:t>
            </a:r>
            <a:r>
              <a:rPr lang="en-GB" dirty="0"/>
              <a:t> </a:t>
            </a:r>
            <a:r>
              <a:rPr lang="en-GB" dirty="0" err="1"/>
              <a:t>verwenden</a:t>
            </a:r>
            <a:endParaRPr lang="en-GB" dirty="0"/>
          </a:p>
          <a:p>
            <a:endParaRPr lang="en-GB" dirty="0"/>
          </a:p>
          <a:p>
            <a:pPr marL="0" indent="0">
              <a:buNone/>
            </a:pPr>
            <a:r>
              <a:rPr lang="en-GB" dirty="0" err="1"/>
              <a:t>Vorteile</a:t>
            </a:r>
            <a:endParaRPr lang="en-GB" dirty="0"/>
          </a:p>
          <a:p>
            <a:r>
              <a:rPr lang="en-GB" dirty="0"/>
              <a:t>Keine </a:t>
            </a:r>
            <a:r>
              <a:rPr lang="en-GB" dirty="0" err="1"/>
              <a:t>Sortierspalte</a:t>
            </a:r>
            <a:r>
              <a:rPr lang="en-GB" dirty="0"/>
              <a:t> – </a:t>
            </a:r>
            <a:r>
              <a:rPr lang="en-GB" dirty="0" err="1"/>
              <a:t>weniger</a:t>
            </a:r>
            <a:r>
              <a:rPr lang="en-GB" dirty="0"/>
              <a:t> </a:t>
            </a:r>
            <a:r>
              <a:rPr lang="en-GB" dirty="0" err="1"/>
              <a:t>Aufwand</a:t>
            </a:r>
            <a:r>
              <a:rPr lang="en-GB" dirty="0"/>
              <a:t>, </a:t>
            </a:r>
            <a:r>
              <a:rPr lang="en-GB" dirty="0" err="1"/>
              <a:t>einfachere</a:t>
            </a:r>
            <a:r>
              <a:rPr lang="en-GB" dirty="0"/>
              <a:t> Measures</a:t>
            </a:r>
          </a:p>
          <a:p>
            <a:r>
              <a:rPr lang="en-GB" dirty="0" err="1"/>
              <a:t>Automatische</a:t>
            </a:r>
            <a:r>
              <a:rPr lang="en-GB" dirty="0"/>
              <a:t> </a:t>
            </a:r>
            <a:r>
              <a:rPr lang="en-GB" dirty="0" err="1"/>
              <a:t>Lokalisierung</a:t>
            </a:r>
            <a:endParaRPr lang="en-GB" dirty="0"/>
          </a:p>
          <a:p>
            <a:r>
              <a:rPr lang="en-GB" dirty="0" err="1"/>
              <a:t>Kontinuierliche</a:t>
            </a:r>
            <a:r>
              <a:rPr lang="en-GB" dirty="0"/>
              <a:t> </a:t>
            </a:r>
            <a:r>
              <a:rPr lang="en-GB" dirty="0" err="1"/>
              <a:t>oder</a:t>
            </a:r>
            <a:r>
              <a:rPr lang="en-GB" dirty="0"/>
              <a:t> </a:t>
            </a:r>
            <a:r>
              <a:rPr lang="en-GB" dirty="0" err="1"/>
              <a:t>Kategorieenachse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3304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84333-CE68-4496-A4A7-D025A93F9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Datenmodell</a:t>
            </a:r>
            <a:r>
              <a:rPr lang="en-GB" dirty="0"/>
              <a:t> </a:t>
            </a:r>
            <a:r>
              <a:rPr lang="en-GB" dirty="0" err="1"/>
              <a:t>statt</a:t>
            </a:r>
            <a:r>
              <a:rPr lang="en-GB" dirty="0"/>
              <a:t> Measure</a:t>
            </a:r>
            <a:endParaRPr lang="en-DE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BF78F1-8A40-7E16-DC7A-5046B750B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horz">
            <a:normAutofit/>
          </a:bodyPr>
          <a:lstStyle/>
          <a:p>
            <a:r>
              <a:rPr lang="en-GB" dirty="0"/>
              <a:t>Was </a:t>
            </a:r>
            <a:r>
              <a:rPr lang="en-GB" dirty="0" err="1"/>
              <a:t>im</a:t>
            </a:r>
            <a:r>
              <a:rPr lang="en-GB" dirty="0"/>
              <a:t> </a:t>
            </a:r>
            <a:r>
              <a:rPr lang="en-GB" dirty="0" err="1"/>
              <a:t>Datenmodell</a:t>
            </a:r>
            <a:r>
              <a:rPr lang="en-GB" dirty="0"/>
              <a:t> </a:t>
            </a:r>
            <a:r>
              <a:rPr lang="en-GB" dirty="0" err="1"/>
              <a:t>lösbar</a:t>
            </a:r>
            <a:r>
              <a:rPr lang="en-GB" dirty="0"/>
              <a:t> </a:t>
            </a:r>
            <a:r>
              <a:rPr lang="en-GB" dirty="0" err="1"/>
              <a:t>ist</a:t>
            </a:r>
            <a:r>
              <a:rPr lang="en-GB" dirty="0"/>
              <a:t> nicht in Measures </a:t>
            </a:r>
            <a:r>
              <a:rPr lang="en-GB" dirty="0" err="1"/>
              <a:t>verschieben</a:t>
            </a:r>
            <a:endParaRPr lang="en-GB" dirty="0"/>
          </a:p>
          <a:p>
            <a:r>
              <a:rPr lang="en-GB" dirty="0"/>
              <a:t>Keine Angst </a:t>
            </a:r>
            <a:r>
              <a:rPr lang="en-GB" dirty="0" err="1"/>
              <a:t>vor</a:t>
            </a:r>
            <a:r>
              <a:rPr lang="en-GB" dirty="0"/>
              <a:t> </a:t>
            </a:r>
            <a:r>
              <a:rPr lang="en-GB" dirty="0" err="1"/>
              <a:t>bidirektionalen</a:t>
            </a:r>
            <a:r>
              <a:rPr lang="en-GB" dirty="0"/>
              <a:t> </a:t>
            </a:r>
            <a:r>
              <a:rPr lang="en-GB" dirty="0" err="1"/>
              <a:t>oder</a:t>
            </a:r>
            <a:r>
              <a:rPr lang="en-GB" dirty="0"/>
              <a:t> Many-to-Many-</a:t>
            </a:r>
            <a:r>
              <a:rPr lang="en-GB" dirty="0" err="1"/>
              <a:t>Beziehungen</a:t>
            </a:r>
            <a:r>
              <a:rPr lang="en-GB" dirty="0"/>
              <a:t>*</a:t>
            </a:r>
          </a:p>
          <a:p>
            <a:pPr marL="457200" lvl="1" indent="0">
              <a:buNone/>
            </a:pPr>
            <a:r>
              <a:rPr lang="en-GB" dirty="0"/>
              <a:t>*) </a:t>
            </a:r>
            <a:r>
              <a:rPr lang="en-GB" dirty="0" err="1"/>
              <a:t>wenn</a:t>
            </a:r>
            <a:r>
              <a:rPr lang="en-GB" dirty="0"/>
              <a:t> </a:t>
            </a:r>
            <a:r>
              <a:rPr lang="en-GB" dirty="0" err="1"/>
              <a:t>referenzielle</a:t>
            </a:r>
            <a:r>
              <a:rPr lang="en-GB" dirty="0"/>
              <a:t> </a:t>
            </a:r>
            <a:r>
              <a:rPr lang="en-GB" dirty="0" err="1"/>
              <a:t>Integrität</a:t>
            </a:r>
            <a:r>
              <a:rPr lang="en-GB" dirty="0"/>
              <a:t> </a:t>
            </a:r>
            <a:r>
              <a:rPr lang="en-GB" dirty="0" err="1"/>
              <a:t>sichergestellt</a:t>
            </a:r>
            <a:r>
              <a:rPr lang="en-GB" dirty="0"/>
              <a:t> </a:t>
            </a:r>
            <a:r>
              <a:rPr lang="en-GB" dirty="0" err="1"/>
              <a:t>ist</a:t>
            </a:r>
            <a:endParaRPr lang="en-GB" dirty="0"/>
          </a:p>
          <a:p>
            <a:r>
              <a:rPr lang="en-GB" dirty="0"/>
              <a:t>Lieber </a:t>
            </a:r>
            <a:r>
              <a:rPr lang="en-GB" dirty="0" err="1"/>
              <a:t>Hilfstabellen</a:t>
            </a:r>
            <a:r>
              <a:rPr lang="en-GB" dirty="0"/>
              <a:t> </a:t>
            </a:r>
            <a:r>
              <a:rPr lang="en-GB" dirty="0" err="1"/>
              <a:t>mit</a:t>
            </a:r>
            <a:r>
              <a:rPr lang="en-GB" dirty="0"/>
              <a:t> </a:t>
            </a:r>
            <a:r>
              <a:rPr lang="en-GB" dirty="0" err="1"/>
              <a:t>Filterbeziehung</a:t>
            </a:r>
            <a:r>
              <a:rPr lang="en-GB" dirty="0"/>
              <a:t> </a:t>
            </a:r>
            <a:r>
              <a:rPr lang="en-GB" dirty="0" err="1"/>
              <a:t>als</a:t>
            </a:r>
            <a:r>
              <a:rPr lang="en-GB" dirty="0"/>
              <a:t> </a:t>
            </a:r>
            <a:r>
              <a:rPr lang="en-GB" dirty="0" err="1"/>
              <a:t>unverbundene</a:t>
            </a:r>
            <a:r>
              <a:rPr lang="en-GB" dirty="0"/>
              <a:t> </a:t>
            </a:r>
            <a:r>
              <a:rPr lang="en-GB" dirty="0" err="1"/>
              <a:t>Hilfstabellen</a:t>
            </a:r>
            <a:r>
              <a:rPr lang="en-GB" dirty="0"/>
              <a:t> und Measures</a:t>
            </a:r>
          </a:p>
          <a:p>
            <a:r>
              <a:rPr lang="en-GB" dirty="0" err="1"/>
              <a:t>Beispiele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Monat und </a:t>
            </a:r>
            <a:r>
              <a:rPr lang="en-GB" dirty="0" err="1"/>
              <a:t>Anzahl</a:t>
            </a:r>
            <a:r>
              <a:rPr lang="en-GB" dirty="0"/>
              <a:t> </a:t>
            </a:r>
            <a:r>
              <a:rPr lang="en-GB" dirty="0" err="1"/>
              <a:t>Perioden</a:t>
            </a:r>
            <a:r>
              <a:rPr lang="en-GB" dirty="0"/>
              <a:t> </a:t>
            </a:r>
            <a:r>
              <a:rPr lang="en-GB" dirty="0" err="1"/>
              <a:t>filtern</a:t>
            </a:r>
            <a:endParaRPr lang="en-GB" dirty="0"/>
          </a:p>
          <a:p>
            <a:pPr lvl="1"/>
            <a:r>
              <a:rPr lang="en-GB" dirty="0" err="1"/>
              <a:t>Zeitraum</a:t>
            </a:r>
            <a:r>
              <a:rPr lang="en-GB" dirty="0"/>
              <a:t> </a:t>
            </a:r>
            <a:r>
              <a:rPr lang="en-GB" dirty="0" err="1"/>
              <a:t>über</a:t>
            </a:r>
            <a:r>
              <a:rPr lang="en-GB" dirty="0"/>
              <a:t> Start- und </a:t>
            </a:r>
            <a:r>
              <a:rPr lang="en-GB" dirty="0" err="1"/>
              <a:t>Endmonat</a:t>
            </a:r>
            <a:r>
              <a:rPr lang="en-GB" dirty="0"/>
              <a:t> </a:t>
            </a:r>
            <a:r>
              <a:rPr lang="en-GB" dirty="0" err="1"/>
              <a:t>filtern</a:t>
            </a:r>
            <a:endParaRPr lang="en-GB" dirty="0"/>
          </a:p>
          <a:p>
            <a:pPr lvl="1"/>
            <a:r>
              <a:rPr lang="en-GB" dirty="0" err="1"/>
              <a:t>Dynamische</a:t>
            </a:r>
            <a:r>
              <a:rPr lang="en-GB" dirty="0"/>
              <a:t> Spaltennamen </a:t>
            </a:r>
            <a:r>
              <a:rPr lang="en-GB" dirty="0" err="1"/>
              <a:t>statt</a:t>
            </a:r>
            <a:r>
              <a:rPr lang="en-GB" dirty="0"/>
              <a:t> Measure-Namen in Matrix</a:t>
            </a:r>
          </a:p>
        </p:txBody>
      </p:sp>
    </p:spTree>
    <p:extLst>
      <p:ext uri="{BB962C8B-B14F-4D97-AF65-F5344CB8AC3E}">
        <p14:creationId xmlns:p14="http://schemas.microsoft.com/office/powerpoint/2010/main" val="1193556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A9A6A49-33C1-E7F2-5996-95C536489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Anforderungssätze</a:t>
            </a:r>
            <a:endParaRPr lang="en-DE" dirty="0"/>
          </a:p>
        </p:txBody>
      </p:sp>
      <p:sp>
        <p:nvSpPr>
          <p:cNvPr id="5" name="Vertical Text Placeholder 4">
            <a:extLst>
              <a:ext uri="{FF2B5EF4-FFF2-40B4-BE49-F238E27FC236}">
                <a16:creationId xmlns:a16="http://schemas.microsoft.com/office/drawing/2014/main" id="{D7D6B024-F7B4-0064-79B0-84524E9CF9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DE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9164D5D-4ACD-DBE6-218F-3F7E61D36D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2446461"/>
              </p:ext>
            </p:extLst>
          </p:nvPr>
        </p:nvGraphicFramePr>
        <p:xfrm>
          <a:off x="838200" y="1821743"/>
          <a:ext cx="10515600" cy="165926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28176457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7031355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9494031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8457709"/>
                    </a:ext>
                  </a:extLst>
                </a:gridCol>
              </a:tblGrid>
              <a:tr h="19589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#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Fachbereich / Szenario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Typische fachliche Anforderung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Interessantes Sprachmuster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extLst>
                  <a:ext uri="{0D108BD9-81ED-4DB2-BD59-A6C34878D82A}">
                    <a16:rowId xmlns:a16="http://schemas.microsoft.com/office/drawing/2014/main" val="3114616295"/>
                  </a:ext>
                </a:extLst>
              </a:tr>
              <a:tr h="74496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1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Vertrieb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„Zeige den Umsatz des aktuellen Monats im Vergleich zum gleichen Monat des Vorjahres und die prozentuale Veränderung.“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aktuell, gleicher Zeitraum, Vorjahr, Veränderung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extLst>
                  <a:ext uri="{0D108BD9-81ED-4DB2-BD59-A6C34878D82A}">
                    <a16:rowId xmlns:a16="http://schemas.microsoft.com/office/drawing/2014/main" val="2475105418"/>
                  </a:ext>
                </a:extLst>
              </a:tr>
              <a:tr h="74496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2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Controlling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„Zeige für jede Kostenstelle die Ist-Kosten, das Budget und die Abweichung. Nicht bebuchte Kostenstellen sollen trotzdem erscheinen.“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für jede, auch wenn keine Daten vorhanden sind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extLst>
                  <a:ext uri="{0D108BD9-81ED-4DB2-BD59-A6C34878D82A}">
                    <a16:rowId xmlns:a16="http://schemas.microsoft.com/office/drawing/2014/main" val="3865294060"/>
                  </a:ext>
                </a:extLst>
              </a:tr>
              <a:tr h="5619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3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Vertrieb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„Ein Kunde gilt als Neukunde, wenn er im ausgewählten Zeitraum seinen ersten Auftrag überhaupt hatte.“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erster … überhaupt, im ausgewählten Zeitraum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extLst>
                  <a:ext uri="{0D108BD9-81ED-4DB2-BD59-A6C34878D82A}">
                    <a16:rowId xmlns:a16="http://schemas.microsoft.com/office/drawing/2014/main" val="939315266"/>
                  </a:ext>
                </a:extLst>
              </a:tr>
              <a:tr h="74496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4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Einkauf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„Zeige je Lieferant den Anteil des Einkaufsvolumens am gesamten Einkaufsvolumen – unabhängig davon, welcher Lieferant gerade ausgewählt ist.“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Anteil am Gesamtwert, unabhängig von Auswahl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extLst>
                  <a:ext uri="{0D108BD9-81ED-4DB2-BD59-A6C34878D82A}">
                    <a16:rowId xmlns:a16="http://schemas.microsoft.com/office/drawing/2014/main" val="630073024"/>
                  </a:ext>
                </a:extLst>
              </a:tr>
              <a:tr h="111100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5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Produktion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„Berechne die Ausschussquote aus Ausschussmenge und produzierter Menge. Auf Werksebene soll die Quote aus den Mengen neu berechnet und nicht aus den Quoten der Produktionslinien gemittelt werden.“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Quote, nicht mitteln, auf höherer Ebene neu berechnen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extLst>
                  <a:ext uri="{0D108BD9-81ED-4DB2-BD59-A6C34878D82A}">
                    <a16:rowId xmlns:a16="http://schemas.microsoft.com/office/drawing/2014/main" val="2845999771"/>
                  </a:ext>
                </a:extLst>
              </a:tr>
              <a:tr h="37891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6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HR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„Zeige die Anzahl der Mitarbeiter, die am Monatsende aktiv beschäftigt waren.“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zu einem Stichtag aktiv, zwischen Eintritt und Austritt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extLst>
                  <a:ext uri="{0D108BD9-81ED-4DB2-BD59-A6C34878D82A}">
                    <a16:rowId xmlns:a16="http://schemas.microsoft.com/office/drawing/2014/main" val="4128989422"/>
                  </a:ext>
                </a:extLst>
              </a:tr>
              <a:tr h="5619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7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HR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„Berechne die durchschnittliche Mitarbeiterzahl eines Jahres auf Basis der zwölf Monatsendbestände.“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Durchschnitt von Zuständen, Monatsendbestand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extLst>
                  <a:ext uri="{0D108BD9-81ED-4DB2-BD59-A6C34878D82A}">
                    <a16:rowId xmlns:a16="http://schemas.microsoft.com/office/drawing/2014/main" val="1358979001"/>
                  </a:ext>
                </a:extLst>
              </a:tr>
              <a:tr h="5619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8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Finance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„Zeige die kumulierten Ist-Kosten vom Jahresanfang bis zum ausgewählten Monat.“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vom Jahresanfang bis, kumuliert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extLst>
                  <a:ext uri="{0D108BD9-81ED-4DB2-BD59-A6C34878D82A}">
                    <a16:rowId xmlns:a16="http://schemas.microsoft.com/office/drawing/2014/main" val="3828731165"/>
                  </a:ext>
                </a:extLst>
              </a:tr>
              <a:tr h="74496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9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Finance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„Für die Bilanz soll immer der Bestand am letzten verfügbaren Buchungstag des ausgewählten Zeitraums angezeigt werden.“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letzter verfügbarer Wert, Bestand statt Summe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extLst>
                  <a:ext uri="{0D108BD9-81ED-4DB2-BD59-A6C34878D82A}">
                    <a16:rowId xmlns:a16="http://schemas.microsoft.com/office/drawing/2014/main" val="4169030430"/>
                  </a:ext>
                </a:extLst>
              </a:tr>
              <a:tr h="74496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10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Supply Chain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„Ein Auftrag gilt als pünktlich geliefert, wenn das tatsächliche Lieferdatum höchstens zwei Tage nach dem bestätigten Lieferdatum liegt.“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gilt als … wenn, fachliche Klassifikationsregel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extLst>
                  <a:ext uri="{0D108BD9-81ED-4DB2-BD59-A6C34878D82A}">
                    <a16:rowId xmlns:a16="http://schemas.microsoft.com/office/drawing/2014/main" val="4212601305"/>
                  </a:ext>
                </a:extLst>
              </a:tr>
              <a:tr h="5619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11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Supply Chain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„Berechne die durchschnittliche Lieferzeit je Kunde vom Auftragseingang bis zur vollständigen Lieferung.“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von Ereignis A bis Ereignis B, vollständig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extLst>
                  <a:ext uri="{0D108BD9-81ED-4DB2-BD59-A6C34878D82A}">
                    <a16:rowId xmlns:a16="http://schemas.microsoft.com/office/drawing/2014/main" val="1118211173"/>
                  </a:ext>
                </a:extLst>
              </a:tr>
              <a:tr h="5619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12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Customer Service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„Zeige den Anteil der Tickets, die innerhalb von 24 Stunden nach Eingang gelöst wurden.“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innerhalb von X Stunden, Ereignisabstand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extLst>
                  <a:ext uri="{0D108BD9-81ED-4DB2-BD59-A6C34878D82A}">
                    <a16:rowId xmlns:a16="http://schemas.microsoft.com/office/drawing/2014/main" val="1499272976"/>
                  </a:ext>
                </a:extLst>
              </a:tr>
              <a:tr h="5619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13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Projektcontrolling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„Zeige für jedes Projekt den zuletzt gemeldeten Fertigstellungsgrad, auch wenn dieser mehrere Wochen alt ist.“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zuletzt gemeldeter Wert, letzter bekannter Zustand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extLst>
                  <a:ext uri="{0D108BD9-81ED-4DB2-BD59-A6C34878D82A}">
                    <a16:rowId xmlns:a16="http://schemas.microsoft.com/office/drawing/2014/main" val="4134315430"/>
                  </a:ext>
                </a:extLst>
              </a:tr>
              <a:tr h="74496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14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Sales Management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 dirty="0">
                          <a:effectLst/>
                        </a:rPr>
                        <a:t>„Ein </a:t>
                      </a:r>
                      <a:r>
                        <a:rPr lang="en-DE" sz="1100" kern="100" dirty="0" err="1">
                          <a:effectLst/>
                        </a:rPr>
                        <a:t>Vertriebsmitarbeiter</a:t>
                      </a:r>
                      <a:r>
                        <a:rPr lang="en-DE" sz="1100" kern="100" dirty="0">
                          <a:effectLst/>
                        </a:rPr>
                        <a:t> </a:t>
                      </a:r>
                      <a:r>
                        <a:rPr lang="en-DE" sz="1100" kern="100" dirty="0" err="1">
                          <a:effectLst/>
                        </a:rPr>
                        <a:t>soll</a:t>
                      </a:r>
                      <a:r>
                        <a:rPr lang="en-DE" sz="1100" kern="100" dirty="0">
                          <a:effectLst/>
                        </a:rPr>
                        <a:t> seinen </a:t>
                      </a:r>
                      <a:r>
                        <a:rPr lang="en-DE" sz="1100" kern="100" dirty="0" err="1">
                          <a:effectLst/>
                        </a:rPr>
                        <a:t>Umsatz</a:t>
                      </a:r>
                      <a:r>
                        <a:rPr lang="en-DE" sz="1100" kern="100" dirty="0">
                          <a:effectLst/>
                        </a:rPr>
                        <a:t> </a:t>
                      </a:r>
                      <a:r>
                        <a:rPr lang="en-DE" sz="1100" kern="100" dirty="0" err="1">
                          <a:effectLst/>
                        </a:rPr>
                        <a:t>mit</a:t>
                      </a:r>
                      <a:r>
                        <a:rPr lang="en-DE" sz="1100" kern="100" dirty="0">
                          <a:effectLst/>
                        </a:rPr>
                        <a:t> dem </a:t>
                      </a:r>
                      <a:r>
                        <a:rPr lang="en-DE" sz="1100" kern="100" dirty="0" err="1">
                          <a:effectLst/>
                        </a:rPr>
                        <a:t>durchschnittlichen</a:t>
                      </a:r>
                      <a:r>
                        <a:rPr lang="en-DE" sz="1100" kern="100" dirty="0">
                          <a:effectLst/>
                        </a:rPr>
                        <a:t> </a:t>
                      </a:r>
                      <a:r>
                        <a:rPr lang="en-DE" sz="1100" kern="100" dirty="0" err="1">
                          <a:effectLst/>
                        </a:rPr>
                        <a:t>Umsatz</a:t>
                      </a:r>
                      <a:r>
                        <a:rPr lang="en-DE" sz="1100" kern="100" dirty="0">
                          <a:effectLst/>
                        </a:rPr>
                        <a:t> der </a:t>
                      </a:r>
                      <a:r>
                        <a:rPr lang="en-DE" sz="1100" kern="100" dirty="0" err="1">
                          <a:effectLst/>
                        </a:rPr>
                        <a:t>anderen</a:t>
                      </a:r>
                      <a:r>
                        <a:rPr lang="en-DE" sz="1100" kern="100" dirty="0">
                          <a:effectLst/>
                        </a:rPr>
                        <a:t> Mitarbeiter seiner Region </a:t>
                      </a:r>
                      <a:r>
                        <a:rPr lang="en-DE" sz="1100" kern="100" dirty="0" err="1">
                          <a:effectLst/>
                        </a:rPr>
                        <a:t>vergleichen</a:t>
                      </a:r>
                      <a:r>
                        <a:rPr lang="en-DE" sz="1100" kern="100" dirty="0">
                          <a:effectLst/>
                        </a:rPr>
                        <a:t> </a:t>
                      </a:r>
                      <a:r>
                        <a:rPr lang="en-DE" sz="1100" kern="100" dirty="0" err="1">
                          <a:effectLst/>
                        </a:rPr>
                        <a:t>können</a:t>
                      </a:r>
                      <a:r>
                        <a:rPr lang="en-DE" sz="1100" kern="100" dirty="0">
                          <a:effectLst/>
                        </a:rPr>
                        <a:t>.“</a:t>
                      </a:r>
                      <a:endParaRPr lang="en-DE" sz="1100" kern="100" dirty="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andere … derselben Gruppe, Peer-Vergleich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extLst>
                  <a:ext uri="{0D108BD9-81ED-4DB2-BD59-A6C34878D82A}">
                    <a16:rowId xmlns:a16="http://schemas.microsoft.com/office/drawing/2014/main" val="4050391816"/>
                  </a:ext>
                </a:extLst>
              </a:tr>
              <a:tr h="5619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15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Marketing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 dirty="0">
                          <a:effectLst/>
                        </a:rPr>
                        <a:t>„</a:t>
                      </a:r>
                      <a:r>
                        <a:rPr lang="en-DE" sz="1100" kern="100" dirty="0" err="1">
                          <a:effectLst/>
                        </a:rPr>
                        <a:t>Zeige</a:t>
                      </a:r>
                      <a:r>
                        <a:rPr lang="en-DE" sz="1100" kern="100" dirty="0">
                          <a:effectLst/>
                        </a:rPr>
                        <a:t> </a:t>
                      </a:r>
                      <a:r>
                        <a:rPr lang="en-DE" sz="1100" kern="100" dirty="0" err="1">
                          <a:effectLst/>
                        </a:rPr>
                        <a:t>nur</a:t>
                      </a:r>
                      <a:r>
                        <a:rPr lang="en-DE" sz="1100" kern="100" dirty="0">
                          <a:effectLst/>
                        </a:rPr>
                        <a:t> Kunden, die </a:t>
                      </a:r>
                      <a:r>
                        <a:rPr lang="en-DE" sz="1100" kern="100" dirty="0" err="1">
                          <a:effectLst/>
                        </a:rPr>
                        <a:t>im</a:t>
                      </a:r>
                      <a:r>
                        <a:rPr lang="en-DE" sz="1100" kern="100" dirty="0">
                          <a:effectLst/>
                        </a:rPr>
                        <a:t> </a:t>
                      </a:r>
                      <a:r>
                        <a:rPr lang="en-DE" sz="1100" kern="100" dirty="0" err="1">
                          <a:effectLst/>
                        </a:rPr>
                        <a:t>letzten</a:t>
                      </a:r>
                      <a:r>
                        <a:rPr lang="en-DE" sz="1100" kern="100" dirty="0">
                          <a:effectLst/>
                        </a:rPr>
                        <a:t> Jahr </a:t>
                      </a:r>
                      <a:r>
                        <a:rPr lang="en-DE" sz="1100" kern="100" dirty="0" err="1">
                          <a:effectLst/>
                        </a:rPr>
                        <a:t>gekauft</a:t>
                      </a:r>
                      <a:r>
                        <a:rPr lang="en-DE" sz="1100" kern="100" dirty="0">
                          <a:effectLst/>
                        </a:rPr>
                        <a:t> </a:t>
                      </a:r>
                      <a:r>
                        <a:rPr lang="en-DE" sz="1100" kern="100" dirty="0" err="1">
                          <a:effectLst/>
                        </a:rPr>
                        <a:t>haben</a:t>
                      </a:r>
                      <a:r>
                        <a:rPr lang="en-DE" sz="1100" kern="100" dirty="0">
                          <a:effectLst/>
                        </a:rPr>
                        <a:t>, in den </a:t>
                      </a:r>
                      <a:r>
                        <a:rPr lang="en-DE" sz="1100" kern="100" dirty="0" err="1">
                          <a:effectLst/>
                        </a:rPr>
                        <a:t>vergangenen</a:t>
                      </a:r>
                      <a:r>
                        <a:rPr lang="en-DE" sz="1100" kern="100" dirty="0">
                          <a:effectLst/>
                        </a:rPr>
                        <a:t> 90 Tagen </a:t>
                      </a:r>
                      <a:r>
                        <a:rPr lang="en-DE" sz="1100" kern="100" dirty="0" err="1">
                          <a:effectLst/>
                        </a:rPr>
                        <a:t>aber</a:t>
                      </a:r>
                      <a:r>
                        <a:rPr lang="en-DE" sz="1100" kern="100" dirty="0">
                          <a:effectLst/>
                        </a:rPr>
                        <a:t> </a:t>
                      </a:r>
                      <a:r>
                        <a:rPr lang="en-DE" sz="1100" kern="100" dirty="0" err="1">
                          <a:effectLst/>
                        </a:rPr>
                        <a:t>keinen</a:t>
                      </a:r>
                      <a:r>
                        <a:rPr lang="en-DE" sz="1100" kern="100" dirty="0">
                          <a:effectLst/>
                        </a:rPr>
                        <a:t> </a:t>
                      </a:r>
                      <a:r>
                        <a:rPr lang="en-DE" sz="1100" kern="100" dirty="0" err="1">
                          <a:effectLst/>
                        </a:rPr>
                        <a:t>Auftrag</a:t>
                      </a:r>
                      <a:r>
                        <a:rPr lang="en-DE" sz="1100" kern="100" dirty="0">
                          <a:effectLst/>
                        </a:rPr>
                        <a:t> </a:t>
                      </a:r>
                      <a:r>
                        <a:rPr lang="en-DE" sz="1100" kern="100" dirty="0" err="1">
                          <a:effectLst/>
                        </a:rPr>
                        <a:t>mehr</a:t>
                      </a:r>
                      <a:r>
                        <a:rPr lang="en-DE" sz="1100" kern="100" dirty="0">
                          <a:effectLst/>
                        </a:rPr>
                        <a:t> </a:t>
                      </a:r>
                      <a:r>
                        <a:rPr lang="en-DE" sz="1100" kern="100" dirty="0" err="1">
                          <a:effectLst/>
                        </a:rPr>
                        <a:t>hatten</a:t>
                      </a:r>
                      <a:r>
                        <a:rPr lang="en-DE" sz="1100" kern="100" dirty="0">
                          <a:effectLst/>
                        </a:rPr>
                        <a:t>.“</a:t>
                      </a:r>
                      <a:endParaRPr lang="en-DE" sz="1100" kern="100" dirty="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hatte früher, aber nicht mehr seit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extLst>
                  <a:ext uri="{0D108BD9-81ED-4DB2-BD59-A6C34878D82A}">
                    <a16:rowId xmlns:a16="http://schemas.microsoft.com/office/drawing/2014/main" val="2978534182"/>
                  </a:ext>
                </a:extLst>
              </a:tr>
              <a:tr h="74496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16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Lager / Logistik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„Ein Artikel soll als Slow Mover gelten, wenn Bestand vorhanden ist, aber in den letzten sechs Monaten keine Bewegung stattgefunden hat.“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A vorhanden UND B nicht vorhanden, rollierender Zeitraum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extLst>
                  <a:ext uri="{0D108BD9-81ED-4DB2-BD59-A6C34878D82A}">
                    <a16:rowId xmlns:a16="http://schemas.microsoft.com/office/drawing/2014/main" val="347212668"/>
                  </a:ext>
                </a:extLst>
              </a:tr>
              <a:tr h="5619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17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Pharma / Qualitätsmanagement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„Berechne für jedes Produkt den Anteil der Chargen mit mindestens einer Qualitätsabweichung.“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mindestens ein zugehöriges Ereignis, unterschiedliche Granularitäten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extLst>
                  <a:ext uri="{0D108BD9-81ED-4DB2-BD59-A6C34878D82A}">
                    <a16:rowId xmlns:a16="http://schemas.microsoft.com/office/drawing/2014/main" val="495239643"/>
                  </a:ext>
                </a:extLst>
              </a:tr>
              <a:tr h="92798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18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Finance / FX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„Umsätze sollen in der lokalen Währung und in EUR dargestellt werden. Für die EUR-Umrechnung soll der Wechselkurs des jeweiligen Buchungsmonats verwendet werden.“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je nach Kontext anderer Wert, zeitabhängige Zuordnung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extLst>
                  <a:ext uri="{0D108BD9-81ED-4DB2-BD59-A6C34878D82A}">
                    <a16:rowId xmlns:a16="http://schemas.microsoft.com/office/drawing/2014/main" val="2721561124"/>
                  </a:ext>
                </a:extLst>
              </a:tr>
              <a:tr h="92798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19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Management Reporting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„Der Marktanteil soll auf Landesebene gegen den gesamten Markt des Landes und auf Regionsebene gegen den gesamten Markt der Region berechnet werden.“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Nenner abhängig von Aggregationsebene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extLst>
                  <a:ext uri="{0D108BD9-81ED-4DB2-BD59-A6C34878D82A}">
                    <a16:rowId xmlns:a16="http://schemas.microsoft.com/office/drawing/2014/main" val="1716320013"/>
                  </a:ext>
                </a:extLst>
              </a:tr>
              <a:tr h="5619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20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Vertrieb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„Zeige die Top-5-Produkte nach Umsatz und fasse alle übrigen Produkte unter ‚Others‘ zusammen.“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Top N, Restgruppe dynamisch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extLst>
                  <a:ext uri="{0D108BD9-81ED-4DB2-BD59-A6C34878D82A}">
                    <a16:rowId xmlns:a16="http://schemas.microsoft.com/office/drawing/2014/main" val="1443038398"/>
                  </a:ext>
                </a:extLst>
              </a:tr>
              <a:tr h="90982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21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Controlling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„Bei Auswahl mehrerer Monate soll das Budget über die Monate summiert werden; der Headcount soll dagegen nur den Bestand am Ende des Zeitraums zeigen.“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gleicher Filter, unterschiedliche Aggregationslogik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extLst>
                  <a:ext uri="{0D108BD9-81ED-4DB2-BD59-A6C34878D82A}">
                    <a16:rowId xmlns:a16="http://schemas.microsoft.com/office/drawing/2014/main" val="398462392"/>
                  </a:ext>
                </a:extLst>
              </a:tr>
              <a:tr h="5619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22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Kundenanalyse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„Zeige Kunden, deren Umsatz gegenüber ihrem persönlichen Vorjahreszeitraum um mehr als 20 % gefallen ist.“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je Entität eigener Vergleichswert, anschließend filtern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extLst>
                  <a:ext uri="{0D108BD9-81ED-4DB2-BD59-A6C34878D82A}">
                    <a16:rowId xmlns:a16="http://schemas.microsoft.com/office/drawing/2014/main" val="2922349950"/>
                  </a:ext>
                </a:extLst>
              </a:tr>
              <a:tr h="5619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23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Service / SLA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„Wochenenden und Feiertage sollen bei der Berechnung der Bearbeitungsdauer nicht berücksichtigt werden.“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Dauer, aber nur gültige Arbeitstage/-zeiten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extLst>
                  <a:ext uri="{0D108BD9-81ED-4DB2-BD59-A6C34878D82A}">
                    <a16:rowId xmlns:a16="http://schemas.microsoft.com/office/drawing/2014/main" val="1325448718"/>
                  </a:ext>
                </a:extLst>
              </a:tr>
              <a:tr h="74496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24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Vertriebsplanung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>
                          <a:effectLst/>
                        </a:rPr>
                        <a:t>„Zeige Forecast-Werte nur für zukünftige Monate. Für bereits abgeschlossene Monate soll stattdessen der Ist-Umsatz verwendet werden.“</a:t>
                      </a:r>
                      <a:endParaRPr lang="en-DE" sz="11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DE" sz="1100" kern="100" dirty="0" err="1">
                          <a:effectLst/>
                        </a:rPr>
                        <a:t>abhängig</a:t>
                      </a:r>
                      <a:r>
                        <a:rPr lang="en-DE" sz="1100" kern="100" dirty="0">
                          <a:effectLst/>
                        </a:rPr>
                        <a:t> </a:t>
                      </a:r>
                      <a:r>
                        <a:rPr lang="en-DE" sz="1100" kern="100" dirty="0" err="1">
                          <a:effectLst/>
                        </a:rPr>
                        <a:t>vom</a:t>
                      </a:r>
                      <a:r>
                        <a:rPr lang="en-DE" sz="1100" kern="100" dirty="0">
                          <a:effectLst/>
                        </a:rPr>
                        <a:t> </a:t>
                      </a:r>
                      <a:r>
                        <a:rPr lang="en-DE" sz="1100" kern="100" dirty="0" err="1">
                          <a:effectLst/>
                        </a:rPr>
                        <a:t>Zeitpunkt</a:t>
                      </a:r>
                      <a:r>
                        <a:rPr lang="en-DE" sz="1100" kern="100" dirty="0">
                          <a:effectLst/>
                        </a:rPr>
                        <a:t> Quelle </a:t>
                      </a:r>
                      <a:r>
                        <a:rPr lang="en-DE" sz="1100" kern="100" dirty="0" err="1">
                          <a:effectLst/>
                        </a:rPr>
                        <a:t>wechseln</a:t>
                      </a:r>
                      <a:endParaRPr lang="en-DE" sz="1100" kern="100" dirty="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6" marR="9526" marT="9526" marB="9526" anchor="ctr"/>
                </a:tc>
                <a:extLst>
                  <a:ext uri="{0D108BD9-81ED-4DB2-BD59-A6C34878D82A}">
                    <a16:rowId xmlns:a16="http://schemas.microsoft.com/office/drawing/2014/main" val="3637893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5336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1549</Words>
  <Application>Microsoft Office PowerPoint</Application>
  <PresentationFormat>Breitbild</PresentationFormat>
  <Paragraphs>240</Paragraphs>
  <Slides>12</Slides>
  <Notes>9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Aptos Mono</vt:lpstr>
      <vt:lpstr>Arial</vt:lpstr>
      <vt:lpstr>Office Theme</vt:lpstr>
      <vt:lpstr>PowerPoint-Präsentation</vt:lpstr>
      <vt:lpstr>Von der fachlichen Anforderung zur Implementierung</vt:lpstr>
      <vt:lpstr>Fachliche Anforderungen</vt:lpstr>
      <vt:lpstr>Ein Wert ist eine Berechnung in einem Kontext</vt:lpstr>
      <vt:lpstr>Kontext modifizierende und Berechnungs-modifizierende Berechnungsgruppen</vt:lpstr>
      <vt:lpstr>Kontext modifizierende  Berechnungsgruppen</vt:lpstr>
      <vt:lpstr>Berechnungsmodifizierende Berechnungsgruppen</vt:lpstr>
      <vt:lpstr>Rangfolge zwischen Berechnungsgruppen</vt:lpstr>
      <vt:lpstr>Berechnungsgruppen und  benutzerdefinierte DAX-Funktionen</vt:lpstr>
      <vt:lpstr>Datumstabelle revisited:  Die Power des Format-Strings</vt:lpstr>
      <vt:lpstr>Datenmodell statt Measure</vt:lpstr>
      <vt:lpstr>Anforderungssätze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Bubenheimer, Martin</dc:creator>
  <cp:lastModifiedBy>Bubenheimer Martin</cp:lastModifiedBy>
  <cp:revision>5</cp:revision>
  <dcterms:created xsi:type="dcterms:W3CDTF">2026-08-24T15:13:33Z</dcterms:created>
  <dcterms:modified xsi:type="dcterms:W3CDTF">2026-10-13T18:26:24Z</dcterms:modified>
</cp:coreProperties>
</file>